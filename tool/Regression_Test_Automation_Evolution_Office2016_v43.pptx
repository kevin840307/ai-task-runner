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3" r:id="rId2"/>
    <p:sldId id="267" r:id="rId3"/>
  </p:sldIdLst>
  <p:sldSz cx="12192000" cy="6858000"/>
  <p:notesSz cx="6858000" cy="12192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44" y="-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1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11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12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3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0DFD652-1A19-43CF-8487-8BD210EC7162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F537EC2-7C7D-4A91-9865-FDE709A5D4B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7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A67853A-2F6E-4064-A581-B6BDCFBEC1B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040" cy="72360"/>
          </a:xfrm>
          <a:prstGeom prst="rect">
            <a:avLst/>
          </a:prstGeom>
          <a:solidFill>
            <a:srgbClr val="39C58A"/>
          </a:solidFill>
          <a:ln w="12700">
            <a:solidFill>
              <a:srgbClr val="39C5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6510600"/>
            <a:ext cx="4754160" cy="16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7B8794"/>
                </a:solidFill>
                <a:effectLst/>
                <a:uFillTx/>
                <a:latin typeface="Noto Sans CJK TC"/>
                <a:ea typeface="Noto Sans CJK TC"/>
              </a:rPr>
              <a:t>Regression Test Automation Evolution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 2"/>
          <p:cNvSpPr/>
          <p:nvPr/>
        </p:nvSpPr>
        <p:spPr>
          <a:xfrm>
            <a:off x="11109960" y="6510600"/>
            <a:ext cx="547920" cy="163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AAB2BD"/>
                </a:solidFill>
                <a:effectLst/>
                <a:uFillTx/>
                <a:latin typeface="Noto Sans CJK TC"/>
                <a:ea typeface="Noto Sans CJK TC"/>
              </a:rPr>
              <a:t>2026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sldNum" idx="1"/>
          </p:nvPr>
        </p:nvSpPr>
        <p:spPr>
          <a:xfrm>
            <a:off x="11658600" y="649224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850" b="0" u="none" strike="noStrike">
                <a:solidFill>
                  <a:srgbClr val="AAB2BD"/>
                </a:solidFill>
                <a:effectLst/>
                <a:uFillTx/>
                <a:latin typeface="Noto Sans CJK TC"/>
                <a:ea typeface="Noto Sans CJK TC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fld id="{74A9602C-BA9D-4981-B4B7-63EFE5E3F2AA}" type="slidenum">
              <a:rPr lang="en-US" sz="850" b="0" u="none" strike="noStrike">
                <a:solidFill>
                  <a:srgbClr val="AAB2BD"/>
                </a:solidFill>
                <a:effectLst/>
                <a:uFillTx/>
                <a:latin typeface="Noto Sans CJK TC"/>
                <a:ea typeface="Noto Sans CJK TC"/>
              </a:rPr>
              <a:t>‹#›</a:t>
            </a:fld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Noto Sans CJK TC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ext 0"/>
          <p:cNvSpPr/>
          <p:nvPr/>
        </p:nvSpPr>
        <p:spPr>
          <a:xfrm>
            <a:off x="567000" y="384120"/>
            <a:ext cx="10972080" cy="43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8288" rIns="0" bIns="18288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sz="2250" b="1" dirty="0">
                <a:solidFill>
                  <a:srgbClr val="243047"/>
                </a:solidFill>
                <a:latin typeface="Microsoft JhengHei"/>
              </a:rPr>
              <a:t>Stage 3 — </a:t>
            </a:r>
            <a:r>
              <a:rPr sz="2250" b="1" dirty="0" err="1">
                <a:solidFill>
                  <a:srgbClr val="243047"/>
                </a:solidFill>
                <a:latin typeface="Microsoft JhengHei"/>
              </a:rPr>
              <a:t>Orchestrator：把既有能力整合成可靠</a:t>
            </a:r>
            <a:r>
              <a:rPr sz="2250" b="1" dirty="0">
                <a:solidFill>
                  <a:srgbClr val="243047"/>
                </a:solidFill>
                <a:latin typeface="Microsoft JhengHei"/>
              </a:rPr>
              <a:t> SOP</a:t>
            </a:r>
            <a:endParaRPr lang="en-US" sz="2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1"/>
          <p:cNvSpPr/>
          <p:nvPr/>
        </p:nvSpPr>
        <p:spPr>
          <a:xfrm>
            <a:off x="585360" y="896040"/>
            <a:ext cx="10789200" cy="3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8288" rIns="0" bIns="18288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sz="1220" b="0" dirty="0" err="1">
                <a:solidFill>
                  <a:srgbClr val="657386"/>
                </a:solidFill>
                <a:latin typeface="Microsoft JhengHei"/>
              </a:rPr>
              <a:t>現有工具已具備</a:t>
            </a:r>
            <a:r>
              <a:rPr sz="1220" b="0" dirty="0">
                <a:solidFill>
                  <a:srgbClr val="657386"/>
                </a:solidFill>
                <a:latin typeface="Microsoft JhengHei"/>
              </a:rPr>
              <a:t> Skill / Hook / Loop / Validator </a:t>
            </a:r>
            <a:r>
              <a:rPr sz="1220" b="0" dirty="0" err="1" smtClean="0">
                <a:solidFill>
                  <a:srgbClr val="657386"/>
                </a:solidFill>
                <a:latin typeface="Microsoft JhengHei"/>
              </a:rPr>
              <a:t>等能力</a:t>
            </a:r>
            <a:r>
              <a:rPr lang="zh-TW" altLang="en-US" sz="1220" dirty="0">
                <a:solidFill>
                  <a:srgbClr val="657386"/>
                </a:solidFill>
                <a:latin typeface="Microsoft JhengHei"/>
              </a:rPr>
              <a:t>但分散在不同</a:t>
            </a:r>
            <a:r>
              <a:rPr lang="zh-TW" altLang="en-US" sz="1220" dirty="0" smtClean="0">
                <a:solidFill>
                  <a:srgbClr val="657386"/>
                </a:solidFill>
                <a:latin typeface="Microsoft JhengHei"/>
              </a:rPr>
              <a:t>工具且不易整合</a:t>
            </a:r>
            <a:r>
              <a:rPr sz="1220" b="0" dirty="0" smtClean="0">
                <a:solidFill>
                  <a:srgbClr val="657386"/>
                </a:solidFill>
                <a:latin typeface="Microsoft JhengHei"/>
              </a:rPr>
              <a:t>；Stage </a:t>
            </a:r>
            <a:r>
              <a:rPr sz="1220" b="0" dirty="0">
                <a:solidFill>
                  <a:srgbClr val="657386"/>
                </a:solidFill>
                <a:latin typeface="Microsoft JhengHei"/>
              </a:rPr>
              <a:t>3 </a:t>
            </a:r>
            <a:r>
              <a:rPr sz="1220" b="0" dirty="0" err="1">
                <a:solidFill>
                  <a:srgbClr val="657386"/>
                </a:solidFill>
                <a:latin typeface="Microsoft JhengHei"/>
              </a:rPr>
              <a:t>聚焦「如何整合、如何恢復、何時才算完成</a:t>
            </a:r>
            <a:r>
              <a:rPr sz="1220" b="0" dirty="0">
                <a:solidFill>
                  <a:srgbClr val="657386"/>
                </a:solidFill>
                <a:latin typeface="Microsoft JhengHei"/>
              </a:rPr>
              <a:t>」。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1"/>
          <p:cNvSpPr>
            <a:spLocks noGrp="1"/>
          </p:cNvSpPr>
          <p:nvPr>
            <p:ph type="sldNum" idx="9"/>
          </p:nvPr>
        </p:nvSpPr>
        <p:spPr>
          <a:xfrm>
            <a:off x="11658600" y="649224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850" b="0" u="none" strike="noStrike">
                <a:solidFill>
                  <a:srgbClr val="AAB2BD"/>
                </a:solidFill>
                <a:effectLst/>
                <a:uFillTx/>
                <a:latin typeface="Noto Sans CJK TC"/>
                <a:ea typeface="Noto Sans CJK TC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8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Oval 243"/>
          <p:cNvSpPr/>
          <p:nvPr/>
        </p:nvSpPr>
        <p:spPr>
          <a:xfrm>
            <a:off x="658368" y="1325880"/>
            <a:ext cx="475488" cy="475488"/>
          </a:xfrm>
          <a:prstGeom prst="ellipse">
            <a:avLst/>
          </a:prstGeom>
          <a:solidFill>
            <a:srgbClr val="FFA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TextBox 244"/>
          <p:cNvSpPr txBox="1"/>
          <p:nvPr/>
        </p:nvSpPr>
        <p:spPr>
          <a:xfrm>
            <a:off x="658368" y="1325880"/>
            <a:ext cx="475488" cy="47548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1261872" y="1371600"/>
            <a:ext cx="3017520" cy="31089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/>
            <a:r>
              <a:rPr sz="1620" b="1">
                <a:solidFill>
                  <a:srgbClr val="243047"/>
                </a:solidFill>
                <a:latin typeface="Microsoft JhengHei"/>
              </a:rPr>
              <a:t>Integration Thinking</a:t>
            </a:r>
          </a:p>
        </p:txBody>
      </p:sp>
      <p:sp>
        <p:nvSpPr>
          <p:cNvPr id="247" name="Rounded Rectangle 246"/>
          <p:cNvSpPr/>
          <p:nvPr/>
        </p:nvSpPr>
        <p:spPr>
          <a:xfrm>
            <a:off x="658368" y="1874519"/>
            <a:ext cx="3401568" cy="3310128"/>
          </a:xfrm>
          <a:prstGeom prst="roundRect">
            <a:avLst/>
          </a:prstGeom>
          <a:solidFill>
            <a:srgbClr val="F2F6FF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Rectangle 247"/>
          <p:cNvSpPr/>
          <p:nvPr/>
        </p:nvSpPr>
        <p:spPr>
          <a:xfrm>
            <a:off x="658368" y="1874519"/>
            <a:ext cx="50292" cy="3310128"/>
          </a:xfrm>
          <a:prstGeom prst="rect">
            <a:avLst/>
          </a:prstGeom>
          <a:solidFill>
            <a:srgbClr val="4B7B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914400" y="2111694"/>
            <a:ext cx="2944368" cy="27546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550" b="1" dirty="0" err="1" smtClean="0">
                <a:solidFill>
                  <a:srgbClr val="4B7BEC"/>
                </a:solidFill>
                <a:latin typeface="Microsoft JhengHei"/>
              </a:rPr>
              <a:t>現有</a:t>
            </a:r>
            <a:r>
              <a:rPr lang="zh-TW" altLang="en-US" sz="1550" b="1" dirty="0" smtClean="0">
                <a:solidFill>
                  <a:srgbClr val="4B7BEC"/>
                </a:solidFill>
                <a:latin typeface="Microsoft JhengHei"/>
              </a:rPr>
              <a:t>工具有許多</a:t>
            </a:r>
            <a:r>
              <a:rPr lang="zh-TW" altLang="en-US" sz="1550" b="1" dirty="0" smtClean="0">
                <a:solidFill>
                  <a:srgbClr val="4B7BEC"/>
                </a:solidFill>
                <a:latin typeface="Microsoft JhengHei"/>
              </a:rPr>
              <a:t>種類</a:t>
            </a:r>
            <a:endParaRPr sz="1550" b="1" dirty="0">
              <a:solidFill>
                <a:srgbClr val="4B7BEC"/>
              </a:solidFill>
              <a:latin typeface="Microsoft JhengHei"/>
            </a:endParaRPr>
          </a:p>
        </p:txBody>
      </p:sp>
      <p:sp>
        <p:nvSpPr>
          <p:cNvPr id="250" name="Rounded Rectangle 249"/>
          <p:cNvSpPr/>
          <p:nvPr/>
        </p:nvSpPr>
        <p:spPr>
          <a:xfrm>
            <a:off x="4288536" y="1874519"/>
            <a:ext cx="3401568" cy="331012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Rectangle 250"/>
          <p:cNvSpPr/>
          <p:nvPr/>
        </p:nvSpPr>
        <p:spPr>
          <a:xfrm>
            <a:off x="4288536" y="1874519"/>
            <a:ext cx="50292" cy="3310128"/>
          </a:xfrm>
          <a:prstGeom prst="rect">
            <a:avLst/>
          </a:prstGeom>
          <a:solidFill>
            <a:srgbClr val="FFA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TextBox 251"/>
          <p:cNvSpPr txBox="1"/>
          <p:nvPr/>
        </p:nvSpPr>
        <p:spPr>
          <a:xfrm>
            <a:off x="4544568" y="2003203"/>
            <a:ext cx="2944368" cy="492443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r>
              <a:rPr lang="zh-TW" altLang="en-US" sz="1480" b="1" dirty="0" smtClean="0">
                <a:solidFill>
                  <a:srgbClr val="FFA648"/>
                </a:solidFill>
                <a:latin typeface="Microsoft JhengHei"/>
              </a:rPr>
              <a:t>模型穩定性 </a:t>
            </a:r>
            <a:r>
              <a:rPr lang="en-US" altLang="zh-TW" sz="1480" b="1" dirty="0" smtClean="0">
                <a:solidFill>
                  <a:srgbClr val="FFA648"/>
                </a:solidFill>
                <a:latin typeface="Microsoft JhengHei"/>
              </a:rPr>
              <a:t>× SOP </a:t>
            </a:r>
            <a:r>
              <a:rPr lang="zh-TW" altLang="en-US" sz="1480" b="1" dirty="0" smtClean="0">
                <a:solidFill>
                  <a:srgbClr val="FFA648"/>
                </a:solidFill>
                <a:latin typeface="Microsoft JhengHei"/>
              </a:rPr>
              <a:t>一致性：核心是流程可靠性</a:t>
            </a:r>
            <a:endParaRPr sz="1480" b="1" dirty="0">
              <a:solidFill>
                <a:srgbClr val="FFA648"/>
              </a:solidFill>
              <a:latin typeface="Microsoft JhengHei"/>
            </a:endParaRPr>
          </a:p>
        </p:txBody>
      </p:sp>
      <p:sp>
        <p:nvSpPr>
          <p:cNvPr id="253" name="Rounded Rectangle 252"/>
          <p:cNvSpPr/>
          <p:nvPr/>
        </p:nvSpPr>
        <p:spPr>
          <a:xfrm>
            <a:off x="7918704" y="1874519"/>
            <a:ext cx="3621024" cy="331012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Rectangle 253"/>
          <p:cNvSpPr/>
          <p:nvPr/>
        </p:nvSpPr>
        <p:spPr>
          <a:xfrm>
            <a:off x="7918704" y="1874519"/>
            <a:ext cx="50292" cy="3310128"/>
          </a:xfrm>
          <a:prstGeom prst="rect">
            <a:avLst/>
          </a:prstGeom>
          <a:solidFill>
            <a:srgbClr val="39C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TextBox 254"/>
          <p:cNvSpPr txBox="1"/>
          <p:nvPr/>
        </p:nvSpPr>
        <p:spPr>
          <a:xfrm>
            <a:off x="8174736" y="2120158"/>
            <a:ext cx="3163824" cy="25853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440" b="1" dirty="0" err="1">
                <a:solidFill>
                  <a:srgbClr val="39C58A"/>
                </a:solidFill>
                <a:latin typeface="Microsoft JhengHei"/>
              </a:rPr>
              <a:t>方向</a:t>
            </a:r>
            <a:r>
              <a:rPr sz="1440" b="1" dirty="0" smtClean="0">
                <a:solidFill>
                  <a:srgbClr val="39C58A"/>
                </a:solidFill>
                <a:latin typeface="Microsoft JhengHei"/>
              </a:rPr>
              <a:t>：</a:t>
            </a:r>
            <a:r>
              <a:rPr lang="zh-TW" altLang="en-US" sz="1440" b="1" dirty="0" smtClean="0">
                <a:solidFill>
                  <a:srgbClr val="39C58A"/>
                </a:solidFill>
                <a:latin typeface="Microsoft JhengHei"/>
              </a:rPr>
              <a:t>整合、可靠度、自動化</a:t>
            </a:r>
            <a:endParaRPr sz="1440" b="1" dirty="0">
              <a:solidFill>
                <a:srgbClr val="39C58A"/>
              </a:solidFill>
              <a:latin typeface="Microsoft JhengHei"/>
            </a:endParaRPr>
          </a:p>
        </p:txBody>
      </p:sp>
      <p:sp>
        <p:nvSpPr>
          <p:cNvPr id="256" name="TextBox 255"/>
          <p:cNvSpPr txBox="1"/>
          <p:nvPr/>
        </p:nvSpPr>
        <p:spPr>
          <a:xfrm>
            <a:off x="941832" y="2535293"/>
            <a:ext cx="914400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/>
            <a:r>
              <a:rPr sz="1180" b="1" dirty="0">
                <a:solidFill>
                  <a:srgbClr val="4B7BEC"/>
                </a:solidFill>
                <a:latin typeface="Microsoft JhengHei"/>
              </a:rPr>
              <a:t>Skill / Hook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980332" y="2761488"/>
            <a:ext cx="2724912" cy="36576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 dirty="0" err="1">
                <a:solidFill>
                  <a:srgbClr val="243047"/>
                </a:solidFill>
                <a:latin typeface="Microsoft JhengHei"/>
              </a:rPr>
              <a:t>控制做法、觸發與局部檢查</a:t>
            </a:r>
            <a:endParaRPr sz="1000" b="0" dirty="0">
              <a:solidFill>
                <a:srgbClr val="243047"/>
              </a:solidFill>
              <a:latin typeface="Microsoft JhengHei"/>
            </a:endParaRPr>
          </a:p>
        </p:txBody>
      </p:sp>
      <p:sp>
        <p:nvSpPr>
          <p:cNvPr id="258" name="TextBox 257"/>
          <p:cNvSpPr txBox="1"/>
          <p:nvPr/>
        </p:nvSpPr>
        <p:spPr>
          <a:xfrm>
            <a:off x="941832" y="3273552"/>
            <a:ext cx="1188720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/>
            <a:r>
              <a:rPr sz="1180" b="1">
                <a:solidFill>
                  <a:srgbClr val="4B7BEC"/>
                </a:solidFill>
                <a:latin typeface="Microsoft JhengHei"/>
              </a:rPr>
              <a:t>Ralph / Ralphy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980332" y="3579579"/>
            <a:ext cx="2724912" cy="448649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950" b="0" dirty="0">
                <a:solidFill>
                  <a:srgbClr val="243047"/>
                </a:solidFill>
                <a:latin typeface="Microsoft JhengHei"/>
              </a:rPr>
              <a:t>Loop / Task / </a:t>
            </a:r>
            <a:r>
              <a:rPr sz="950" b="0" dirty="0" err="1">
                <a:solidFill>
                  <a:srgbClr val="243047"/>
                </a:solidFill>
                <a:latin typeface="Microsoft JhengHei"/>
              </a:rPr>
              <a:t>Retry；部分支援</a:t>
            </a:r>
            <a:r>
              <a:rPr sz="950" b="0" dirty="0">
                <a:solidFill>
                  <a:srgbClr val="243047"/>
                </a:solidFill>
                <a:latin typeface="Microsoft JhengHei"/>
              </a:rPr>
              <a:t> Validator / Dependency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941832" y="4187952"/>
            <a:ext cx="2724912" cy="31089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/>
            <a:r>
              <a:rPr sz="1180" b="1">
                <a:solidFill>
                  <a:srgbClr val="4B7BEC"/>
                </a:solidFill>
                <a:latin typeface="Microsoft JhengHei"/>
              </a:rPr>
              <a:t>Script / Validator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980332" y="4606652"/>
            <a:ext cx="2761488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/>
            <a:r>
              <a:rPr sz="950" b="0" dirty="0">
                <a:solidFill>
                  <a:srgbClr val="243047"/>
                </a:solidFill>
                <a:latin typeface="Microsoft JhengHei"/>
              </a:rPr>
              <a:t>Python / Test / Framework </a:t>
            </a:r>
            <a:r>
              <a:rPr sz="950" b="0" dirty="0" err="1">
                <a:solidFill>
                  <a:srgbClr val="243047"/>
                </a:solidFill>
                <a:latin typeface="Microsoft JhengHei"/>
              </a:rPr>
              <a:t>提供客觀</a:t>
            </a:r>
            <a:r>
              <a:rPr sz="950" b="0" dirty="0">
                <a:solidFill>
                  <a:srgbClr val="243047"/>
                </a:solidFill>
                <a:latin typeface="Microsoft JhengHei"/>
              </a:rPr>
              <a:t> PASS / FAIL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4553712" y="2516043"/>
            <a:ext cx="1737360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/>
            <a:r>
              <a:rPr sz="1180" b="1" dirty="0">
                <a:solidFill>
                  <a:srgbClr val="FFA648"/>
                </a:solidFill>
                <a:latin typeface="Microsoft JhengHei"/>
              </a:rPr>
              <a:t>Compose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4608744" y="2765059"/>
            <a:ext cx="2788920" cy="452945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960" b="0" dirty="0">
                <a:solidFill>
                  <a:srgbClr val="243047"/>
                </a:solidFill>
                <a:latin typeface="Microsoft JhengHei"/>
              </a:rPr>
              <a:t>Grill × N / Review × N / Voting / Custom Prompt </a:t>
            </a:r>
            <a:r>
              <a:rPr sz="960" b="0" dirty="0" err="1">
                <a:solidFill>
                  <a:srgbClr val="243047"/>
                </a:solidFill>
                <a:latin typeface="Microsoft JhengHei"/>
              </a:rPr>
              <a:t>自由組合</a:t>
            </a:r>
            <a:r>
              <a:rPr sz="960" b="0" dirty="0">
                <a:solidFill>
                  <a:srgbClr val="243047"/>
                </a:solidFill>
                <a:latin typeface="Microsoft JhengHei"/>
              </a:rPr>
              <a:t>。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4553712" y="3310128"/>
            <a:ext cx="1508760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/>
            <a:r>
              <a:rPr sz="1180" b="1" dirty="0">
                <a:solidFill>
                  <a:srgbClr val="FFA648"/>
                </a:solidFill>
                <a:latin typeface="Microsoft JhengHei"/>
              </a:rPr>
              <a:t>Recover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4608744" y="3624094"/>
            <a:ext cx="2798064" cy="43999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930" b="0" dirty="0">
                <a:solidFill>
                  <a:srgbClr val="243047"/>
                </a:solidFill>
                <a:latin typeface="Microsoft JhengHei"/>
              </a:rPr>
              <a:t>API / Loop Detection / Process / Validation FAIL → Retry / Resume / </a:t>
            </a:r>
            <a:r>
              <a:rPr sz="930" b="0" dirty="0" err="1">
                <a:solidFill>
                  <a:srgbClr val="243047"/>
                </a:solidFill>
                <a:latin typeface="Microsoft JhengHei"/>
              </a:rPr>
              <a:t>restart_at</a:t>
            </a:r>
            <a:r>
              <a:rPr sz="930" b="0" dirty="0">
                <a:solidFill>
                  <a:srgbClr val="243047"/>
                </a:solidFill>
                <a:latin typeface="Microsoft JhengHei"/>
              </a:rPr>
              <a:t>。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4553712" y="4315968"/>
            <a:ext cx="1417320" cy="25603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l"/>
            <a:r>
              <a:rPr sz="1180" b="1">
                <a:solidFill>
                  <a:srgbClr val="FFA648"/>
                </a:solidFill>
                <a:latin typeface="Microsoft JhengHei"/>
              </a:rPr>
              <a:t>Dynamic SOP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4608744" y="4533147"/>
            <a:ext cx="2779776" cy="470898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940" b="0" dirty="0">
                <a:solidFill>
                  <a:srgbClr val="243047"/>
                </a:solidFill>
                <a:latin typeface="Microsoft JhengHei"/>
              </a:rPr>
              <a:t>Stage </a:t>
            </a:r>
            <a:r>
              <a:rPr sz="940" b="0" dirty="0" err="1">
                <a:solidFill>
                  <a:srgbClr val="243047"/>
                </a:solidFill>
                <a:latin typeface="Microsoft JhengHei"/>
              </a:rPr>
              <a:t>可動態產生</a:t>
            </a:r>
            <a:r>
              <a:rPr sz="940" b="0" dirty="0">
                <a:solidFill>
                  <a:srgbClr val="243047"/>
                </a:solidFill>
                <a:latin typeface="Microsoft JhengHei"/>
              </a:rPr>
              <a:t> / </a:t>
            </a:r>
            <a:r>
              <a:rPr sz="940" b="0" dirty="0" err="1">
                <a:solidFill>
                  <a:srgbClr val="243047"/>
                </a:solidFill>
                <a:latin typeface="Microsoft JhengHei"/>
              </a:rPr>
              <a:t>插入</a:t>
            </a:r>
            <a:r>
              <a:rPr sz="940" b="0" dirty="0">
                <a:solidFill>
                  <a:srgbClr val="243047"/>
                </a:solidFill>
                <a:latin typeface="Microsoft JhengHei"/>
              </a:rPr>
              <a:t> / </a:t>
            </a:r>
            <a:r>
              <a:rPr sz="940" b="0" dirty="0" err="1">
                <a:solidFill>
                  <a:srgbClr val="243047"/>
                </a:solidFill>
                <a:latin typeface="Microsoft JhengHei"/>
              </a:rPr>
              <a:t>重排</a:t>
            </a:r>
            <a:r>
              <a:rPr sz="940" b="0" dirty="0" err="1" smtClean="0">
                <a:solidFill>
                  <a:srgbClr val="243047"/>
                </a:solidFill>
                <a:latin typeface="Microsoft JhengHei"/>
              </a:rPr>
              <a:t>；</a:t>
            </a:r>
            <a:r>
              <a:rPr lang="en-US" altLang="zh-TW" sz="940" b="0" dirty="0" err="1" smtClean="0">
                <a:solidFill>
                  <a:srgbClr val="243047"/>
                </a:solidFill>
                <a:latin typeface="Microsoft JhengHei"/>
              </a:rPr>
              <a:t>Script</a:t>
            </a:r>
            <a:r>
              <a:rPr lang="en-US" altLang="zh-TW" sz="940" b="0" dirty="0" smtClean="0">
                <a:solidFill>
                  <a:srgbClr val="243047"/>
                </a:solidFill>
                <a:latin typeface="Microsoft JhengHei"/>
              </a:rPr>
              <a:t>/AI(Option)</a:t>
            </a:r>
            <a:r>
              <a:rPr sz="940" b="0" dirty="0" smtClean="0">
                <a:solidFill>
                  <a:srgbClr val="243047"/>
                </a:solidFill>
                <a:latin typeface="Microsoft JhengHei"/>
              </a:rPr>
              <a:t> </a:t>
            </a:r>
            <a:r>
              <a:rPr sz="940" b="0" dirty="0" err="1">
                <a:solidFill>
                  <a:srgbClr val="243047"/>
                </a:solidFill>
                <a:latin typeface="Microsoft JhengHei"/>
              </a:rPr>
              <a:t>決定</a:t>
            </a:r>
            <a:r>
              <a:rPr sz="940" b="0" dirty="0">
                <a:solidFill>
                  <a:srgbClr val="243047"/>
                </a:solidFill>
                <a:latin typeface="Microsoft JhengHei"/>
              </a:rPr>
              <a:t> STOP。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8211312" y="2511965"/>
            <a:ext cx="3002120" cy="544765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1" dirty="0" err="1">
                <a:solidFill>
                  <a:srgbClr val="243047"/>
                </a:solidFill>
                <a:latin typeface="Microsoft JhengHei"/>
              </a:rPr>
              <a:t>目前先自行開發，驗證</a:t>
            </a:r>
            <a:r>
              <a:rPr sz="1100" b="1" dirty="0">
                <a:solidFill>
                  <a:srgbClr val="243047"/>
                </a:solidFill>
                <a:latin typeface="Microsoft JhengHei"/>
              </a:rPr>
              <a:t> Reliability Orchestration </a:t>
            </a:r>
            <a:r>
              <a:rPr sz="1100" b="1" dirty="0" err="1">
                <a:solidFill>
                  <a:srgbClr val="243047"/>
                </a:solidFill>
                <a:latin typeface="Microsoft JhengHei"/>
              </a:rPr>
              <a:t>的概念與需求</a:t>
            </a:r>
            <a:r>
              <a:rPr sz="1100" b="1" dirty="0">
                <a:solidFill>
                  <a:srgbClr val="243047"/>
                </a:solidFill>
                <a:latin typeface="Microsoft JhengHei"/>
              </a:rPr>
              <a:t>。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8211312" y="3101943"/>
            <a:ext cx="2880360" cy="452945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sz="960" b="0" dirty="0" err="1">
                <a:solidFill>
                  <a:srgbClr val="243047"/>
                </a:solidFill>
                <a:latin typeface="Microsoft JhengHei"/>
              </a:rPr>
              <a:t>未來有更成熟工具符合需求，就用</a:t>
            </a:r>
            <a:r>
              <a:rPr sz="960" b="0" dirty="0">
                <a:solidFill>
                  <a:srgbClr val="243047"/>
                </a:solidFill>
                <a:latin typeface="Microsoft JhengHei"/>
              </a:rPr>
              <a:t> Plugin / Adapter </a:t>
            </a:r>
            <a:r>
              <a:rPr sz="960" b="0" dirty="0" err="1">
                <a:solidFill>
                  <a:srgbClr val="243047"/>
                </a:solidFill>
                <a:latin typeface="Microsoft JhengHei"/>
              </a:rPr>
              <a:t>整合或替換，不綁定單一實作</a:t>
            </a:r>
            <a:r>
              <a:rPr sz="960" b="0" dirty="0">
                <a:solidFill>
                  <a:srgbClr val="243047"/>
                </a:solidFill>
                <a:latin typeface="Microsoft JhengHei"/>
              </a:rPr>
              <a:t>。</a:t>
            </a:r>
          </a:p>
        </p:txBody>
      </p:sp>
      <p:sp>
        <p:nvSpPr>
          <p:cNvPr id="270" name="Rounded Rectangle 269"/>
          <p:cNvSpPr/>
          <p:nvPr/>
        </p:nvSpPr>
        <p:spPr>
          <a:xfrm>
            <a:off x="9092505" y="3743025"/>
            <a:ext cx="1261872" cy="31089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4B7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/>
            <a:r>
              <a:rPr lang="en-US" sz="850" b="1" dirty="0" smtClean="0">
                <a:solidFill>
                  <a:srgbClr val="39C58A"/>
                </a:solidFill>
                <a:latin typeface="Microsoft JhengHei"/>
              </a:rPr>
              <a:t>Control</a:t>
            </a:r>
            <a:endParaRPr sz="850" b="1" dirty="0">
              <a:solidFill>
                <a:srgbClr val="39C58A"/>
              </a:solidFill>
              <a:latin typeface="Microsoft JhengHei"/>
            </a:endParaRPr>
          </a:p>
        </p:txBody>
      </p:sp>
      <p:sp>
        <p:nvSpPr>
          <p:cNvPr id="271" name="Rounded Rectangle 270"/>
          <p:cNvSpPr/>
          <p:nvPr/>
        </p:nvSpPr>
        <p:spPr>
          <a:xfrm>
            <a:off x="9092505" y="4182264"/>
            <a:ext cx="1261872" cy="316583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FFA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/>
            <a:r>
              <a:rPr sz="850" b="1">
                <a:solidFill>
                  <a:srgbClr val="39C58A"/>
                </a:solidFill>
                <a:latin typeface="Microsoft JhengHei"/>
              </a:rPr>
              <a:t>Recover</a:t>
            </a:r>
          </a:p>
        </p:txBody>
      </p:sp>
      <p:sp>
        <p:nvSpPr>
          <p:cNvPr id="272" name="Rounded Rectangle 271"/>
          <p:cNvSpPr/>
          <p:nvPr/>
        </p:nvSpPr>
        <p:spPr>
          <a:xfrm>
            <a:off x="9092505" y="4667292"/>
            <a:ext cx="1261872" cy="310896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7A6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" tIns="9144" rIns="18288" bIns="9144" rtlCol="0" anchor="ctr"/>
          <a:lstStyle/>
          <a:p>
            <a:pPr algn="ctr"/>
            <a:r>
              <a:rPr sz="850" b="1">
                <a:solidFill>
                  <a:srgbClr val="39C58A"/>
                </a:solidFill>
                <a:latin typeface="Microsoft JhengHei"/>
              </a:rPr>
              <a:t>Validate</a:t>
            </a:r>
          </a:p>
        </p:txBody>
      </p:sp>
      <p:sp>
        <p:nvSpPr>
          <p:cNvPr id="275" name="Rounded Rectangle 274"/>
          <p:cNvSpPr/>
          <p:nvPr/>
        </p:nvSpPr>
        <p:spPr>
          <a:xfrm>
            <a:off x="658368" y="5715000"/>
            <a:ext cx="10881360" cy="512064"/>
          </a:xfrm>
          <a:prstGeom prst="roundRect">
            <a:avLst/>
          </a:prstGeom>
          <a:solidFill>
            <a:srgbClr val="EBEF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TextBox 275"/>
          <p:cNvSpPr txBox="1"/>
          <p:nvPr/>
        </p:nvSpPr>
        <p:spPr>
          <a:xfrm>
            <a:off x="868680" y="5806440"/>
            <a:ext cx="10469880" cy="25603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100" b="1">
                <a:solidFill>
                  <a:srgbClr val="243047"/>
                </a:solidFill>
                <a:latin typeface="Microsoft JhengHei"/>
              </a:rPr>
              <a:t>核心：不是重做所有 Agent 功能，而是先建立可靠的整合控制層；成熟能力能直接用，就整合進來。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TextBox 1"/>
          <p:cNvSpPr/>
          <p:nvPr/>
        </p:nvSpPr>
        <p:spPr>
          <a:xfrm>
            <a:off x="576000" y="320040"/>
            <a:ext cx="1092672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600" b="1" u="none" strike="noStrike">
                <a:solidFill>
                  <a:srgbClr val="172033"/>
                </a:solidFill>
                <a:effectLst/>
                <a:uFillTx/>
                <a:latin typeface="Microsoft JhengHei"/>
              </a:rPr>
              <a:t>Completion Condition </a:t>
            </a:r>
            <a:r>
              <a:rPr lang="zh-CN" sz="2600" b="1" u="none" strike="noStrike">
                <a:solidFill>
                  <a:srgbClr val="172033"/>
                </a:solidFill>
                <a:effectLst/>
                <a:uFillTx/>
                <a:latin typeface="Microsoft JhengHei"/>
              </a:rPr>
              <a:t>是 </a:t>
            </a:r>
            <a:r>
              <a:rPr lang="en-US" sz="2600" b="1" u="none" strike="noStrike">
                <a:solidFill>
                  <a:srgbClr val="172033"/>
                </a:solidFill>
                <a:effectLst/>
                <a:uFillTx/>
                <a:latin typeface="Microsoft JhengHei"/>
              </a:rPr>
              <a:t>Stage 3 </a:t>
            </a:r>
            <a:r>
              <a:rPr lang="zh-CN" sz="2600" b="1" u="none" strike="noStrike">
                <a:solidFill>
                  <a:srgbClr val="172033"/>
                </a:solidFill>
                <a:effectLst/>
                <a:uFillTx/>
                <a:latin typeface="Microsoft JhengHei"/>
              </a:rPr>
              <a:t>的核心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Box 2"/>
          <p:cNvSpPr/>
          <p:nvPr/>
        </p:nvSpPr>
        <p:spPr>
          <a:xfrm>
            <a:off x="594360" y="841320"/>
            <a:ext cx="108352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60" b="0">
                <a:solidFill>
                  <a:srgbClr val="657386"/>
                </a:solidFill>
                <a:latin typeface="Microsoft JhengHei"/>
              </a:rPr>
              <a:t>一般 Loop 判斷「這個 Task 是否完成」；Orchestrator 判斷「整個多 Stage SOP 是否完成」。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Rounded Rectangle 3"/>
          <p:cNvSpPr/>
          <p:nvPr/>
        </p:nvSpPr>
        <p:spPr>
          <a:xfrm>
            <a:off x="594360" y="1417320"/>
            <a:ext cx="2971440" cy="4525920"/>
          </a:xfrm>
          <a:prstGeom prst="roundRect">
            <a:avLst>
              <a:gd name="adj" fmla="val 16667"/>
            </a:avLst>
          </a:prstGeom>
          <a:solidFill>
            <a:srgbClr val="FDECEF"/>
          </a:solidFill>
          <a:ln w="12700">
            <a:solidFill>
              <a:srgbClr val="E85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Noto Sans CJK TC"/>
            </a:endParaRPr>
          </a:p>
        </p:txBody>
      </p:sp>
      <p:sp>
        <p:nvSpPr>
          <p:cNvPr id="366" name="Rounded Rectangle 11"/>
          <p:cNvSpPr/>
          <p:nvPr/>
        </p:nvSpPr>
        <p:spPr>
          <a:xfrm>
            <a:off x="3840480" y="1417320"/>
            <a:ext cx="7772040" cy="4525920"/>
          </a:xfrm>
          <a:prstGeom prst="roundRect">
            <a:avLst>
              <a:gd name="adj" fmla="val 16667"/>
            </a:avLst>
          </a:prstGeom>
          <a:solidFill>
            <a:srgbClr val="E8F8F1"/>
          </a:solidFill>
          <a:ln w="12700">
            <a:solidFill>
              <a:srgbClr val="39C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Noto Sans CJK TC"/>
            </a:endParaRPr>
          </a:p>
        </p:txBody>
      </p:sp>
      <p:sp>
        <p:nvSpPr>
          <p:cNvPr id="385" name="TextBox 30"/>
          <p:cNvSpPr/>
          <p:nvPr/>
        </p:nvSpPr>
        <p:spPr>
          <a:xfrm>
            <a:off x="621720" y="6172200"/>
            <a:ext cx="1092672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657386"/>
                </a:solidFill>
                <a:latin typeface="Microsoft JhengHei"/>
              </a:rPr>
              <a:t>核心差異：單一 Loop 的完成判斷  vs  多 Stage SOP 的整體完成條件。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Box 385"/>
          <p:cNvSpPr txBox="1"/>
          <p:nvPr/>
        </p:nvSpPr>
        <p:spPr>
          <a:xfrm>
            <a:off x="822960" y="1664208"/>
            <a:ext cx="2514600" cy="384048"/>
          </a:xfrm>
          <a:prstGeom prst="rect">
            <a:avLst/>
          </a:prstGeom>
          <a:noFill/>
        </p:spPr>
        <p:txBody>
          <a:bodyPr wrap="none" bIns="36576" anchor="ctr">
            <a:spAutoFit/>
          </a:bodyPr>
          <a:lstStyle/>
          <a:p>
            <a:pPr algn="ctr"/>
            <a:r>
              <a:rPr sz="1680" b="1">
                <a:solidFill>
                  <a:srgbClr val="EA5B73"/>
                </a:solidFill>
                <a:latin typeface="Microsoft JhengHei"/>
              </a:rPr>
              <a:t>一般 Loop 怎麼停？</a:t>
            </a:r>
          </a:p>
        </p:txBody>
      </p:sp>
      <p:sp>
        <p:nvSpPr>
          <p:cNvPr id="387" name="Rounded Rectangle 386"/>
          <p:cNvSpPr/>
          <p:nvPr/>
        </p:nvSpPr>
        <p:spPr>
          <a:xfrm>
            <a:off x="896112" y="2240280"/>
            <a:ext cx="2359152" cy="1207008"/>
          </a:xfrm>
          <a:prstGeom prst="roundRect">
            <a:avLst/>
          </a:prstGeom>
          <a:solidFill>
            <a:srgbClr val="FFF1F3"/>
          </a:solidFill>
          <a:ln w="13970">
            <a:solidFill>
              <a:srgbClr val="EA5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Ins="137160" bIns="73152" rtlCol="0" anchor="ctr"/>
          <a:lstStyle/>
          <a:p>
            <a:pPr algn="l"/>
            <a:r>
              <a:rPr sz="1230" b="1">
                <a:solidFill>
                  <a:srgbClr val="EA5B73"/>
                </a:solidFill>
                <a:latin typeface="Microsoft JhengHei"/>
              </a:rPr>
              <a:t>AI 判斷</a:t>
            </a:r>
          </a:p>
          <a:p>
            <a:pPr algn="l">
              <a:spcBef>
                <a:spcPts val="600"/>
              </a:spcBef>
            </a:pPr>
            <a:r>
              <a:rPr sz="1010">
                <a:solidFill>
                  <a:srgbClr val="243047"/>
                </a:solidFill>
                <a:latin typeface="Microsoft JhengHei"/>
              </a:rPr>
              <a:t>模型回傳 DONE  →  STOP</a:t>
            </a:r>
          </a:p>
        </p:txBody>
      </p:sp>
      <p:sp>
        <p:nvSpPr>
          <p:cNvPr id="388" name="Rounded Rectangle 387"/>
          <p:cNvSpPr/>
          <p:nvPr/>
        </p:nvSpPr>
        <p:spPr>
          <a:xfrm>
            <a:off x="896112" y="3657600"/>
            <a:ext cx="2359152" cy="1280160"/>
          </a:xfrm>
          <a:prstGeom prst="roundRect">
            <a:avLst/>
          </a:prstGeom>
          <a:solidFill>
            <a:srgbClr val="FFF7ED"/>
          </a:solidFill>
          <a:ln w="13970">
            <a:solidFill>
              <a:srgbClr val="FFA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91440" rIns="137160" bIns="73152" rtlCol="0" anchor="ctr"/>
          <a:lstStyle/>
          <a:p>
            <a:pPr algn="l"/>
            <a:r>
              <a:rPr sz="1160" b="1" dirty="0" err="1">
                <a:solidFill>
                  <a:srgbClr val="FFA648"/>
                </a:solidFill>
                <a:latin typeface="Microsoft JhengHei"/>
              </a:rPr>
              <a:t>Validator（部分</a:t>
            </a:r>
            <a:r>
              <a:rPr sz="1160" b="1" dirty="0">
                <a:solidFill>
                  <a:srgbClr val="FFA648"/>
                </a:solidFill>
                <a:latin typeface="Microsoft JhengHei"/>
              </a:rPr>
              <a:t> Ralph）</a:t>
            </a:r>
          </a:p>
          <a:p>
            <a:pPr algn="l">
              <a:spcBef>
                <a:spcPts val="600"/>
              </a:spcBef>
            </a:pPr>
            <a:r>
              <a:rPr sz="1010" dirty="0">
                <a:solidFill>
                  <a:srgbClr val="243047"/>
                </a:solidFill>
                <a:latin typeface="Microsoft JhengHei"/>
              </a:rPr>
              <a:t>Test / Script PASS  →  STOP</a:t>
            </a:r>
          </a:p>
        </p:txBody>
      </p:sp>
      <p:sp>
        <p:nvSpPr>
          <p:cNvPr id="389" name="TextBox 388"/>
          <p:cNvSpPr txBox="1"/>
          <p:nvPr/>
        </p:nvSpPr>
        <p:spPr>
          <a:xfrm>
            <a:off x="932688" y="5138928"/>
            <a:ext cx="2286000" cy="502920"/>
          </a:xfrm>
          <a:prstGeom prst="rect">
            <a:avLst/>
          </a:prstGeom>
          <a:noFill/>
        </p:spPr>
        <p:txBody>
          <a:bodyPr wrap="none" bIns="36576" anchor="ctr">
            <a:spAutoFit/>
          </a:bodyPr>
          <a:lstStyle/>
          <a:p>
            <a:pPr algn="ctr"/>
            <a:r>
              <a:rPr sz="980" b="1" dirty="0" err="1">
                <a:solidFill>
                  <a:srgbClr val="243047"/>
                </a:solidFill>
                <a:latin typeface="Microsoft JhengHei"/>
              </a:rPr>
              <a:t>兩者主要在判斷「這一個</a:t>
            </a:r>
            <a:r>
              <a:rPr sz="980" b="1" dirty="0">
                <a:solidFill>
                  <a:srgbClr val="243047"/>
                </a:solidFill>
                <a:latin typeface="Microsoft JhengHei"/>
              </a:rPr>
              <a:t> Loop / Task </a:t>
            </a:r>
            <a:r>
              <a:rPr sz="980" b="1" dirty="0" err="1">
                <a:solidFill>
                  <a:srgbClr val="243047"/>
                </a:solidFill>
                <a:latin typeface="Microsoft JhengHei"/>
              </a:rPr>
              <a:t>是否完成</a:t>
            </a:r>
            <a:r>
              <a:rPr sz="980" b="1" dirty="0">
                <a:solidFill>
                  <a:srgbClr val="243047"/>
                </a:solidFill>
                <a:latin typeface="Microsoft JhengHei"/>
              </a:rPr>
              <a:t>」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5394960" y="1664208"/>
            <a:ext cx="4754880" cy="365760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/>
            <a:r>
              <a:rPr sz="1630" b="1">
                <a:solidFill>
                  <a:srgbClr val="39C58A"/>
                </a:solidFill>
                <a:latin typeface="Microsoft JhengHei"/>
              </a:rPr>
              <a:t>Orchestrator Completion Condition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4297680" y="1993392"/>
            <a:ext cx="6903720" cy="329184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/>
            <a:r>
              <a:rPr sz="900" b="0">
                <a:solidFill>
                  <a:srgbClr val="657386"/>
                </a:solidFill>
                <a:latin typeface="Microsoft JhengHei"/>
              </a:rPr>
              <a:t>AI / Ralph / Validator / Framework Run 都可成為 Stage；YAML 自由編排，Completion Condition 統一決定是否可停止。</a:t>
            </a:r>
          </a:p>
        </p:txBody>
      </p:sp>
      <p:sp>
        <p:nvSpPr>
          <p:cNvPr id="392" name="Rounded Rectangle 391"/>
          <p:cNvSpPr/>
          <p:nvPr/>
        </p:nvSpPr>
        <p:spPr>
          <a:xfrm>
            <a:off x="4160520" y="2514600"/>
            <a:ext cx="822960" cy="80467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4B7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760">
                <a:solidFill>
                  <a:srgbClr val="657386"/>
                </a:solidFill>
                <a:latin typeface="Microsoft JhengHei"/>
              </a:rPr>
              <a:t>Stage 1</a:t>
            </a:r>
          </a:p>
          <a:p>
            <a:pPr algn="ctr"/>
            <a:r>
              <a:rPr sz="930" b="1">
                <a:solidFill>
                  <a:srgbClr val="4B7BEC"/>
                </a:solidFill>
                <a:latin typeface="Microsoft JhengHei"/>
              </a:rPr>
              <a:t>Skill</a:t>
            </a:r>
          </a:p>
        </p:txBody>
      </p:sp>
      <p:sp>
        <p:nvSpPr>
          <p:cNvPr id="393" name="Right Arrow 392"/>
          <p:cNvSpPr/>
          <p:nvPr/>
        </p:nvSpPr>
        <p:spPr>
          <a:xfrm>
            <a:off x="5047488" y="2825496"/>
            <a:ext cx="182880" cy="155448"/>
          </a:xfrm>
          <a:prstGeom prst="rightArrow">
            <a:avLst/>
          </a:prstGeom>
          <a:solidFill>
            <a:srgbClr val="657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4" name="Rounded Rectangle 393"/>
          <p:cNvSpPr/>
          <p:nvPr/>
        </p:nvSpPr>
        <p:spPr>
          <a:xfrm>
            <a:off x="5285232" y="2514600"/>
            <a:ext cx="896112" cy="80467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A69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760">
                <a:solidFill>
                  <a:srgbClr val="657386"/>
                </a:solidFill>
                <a:latin typeface="Microsoft JhengHei"/>
              </a:rPr>
              <a:t>Stage 2</a:t>
            </a:r>
          </a:p>
          <a:p>
            <a:pPr algn="ctr"/>
            <a:r>
              <a:rPr sz="930" b="1">
                <a:solidFill>
                  <a:srgbClr val="7A69D8"/>
                </a:solidFill>
                <a:latin typeface="Microsoft JhengHei"/>
              </a:rPr>
              <a:t>Ralph
Loop</a:t>
            </a:r>
          </a:p>
        </p:txBody>
      </p:sp>
      <p:sp>
        <p:nvSpPr>
          <p:cNvPr id="395" name="Right Arrow 394"/>
          <p:cNvSpPr/>
          <p:nvPr/>
        </p:nvSpPr>
        <p:spPr>
          <a:xfrm>
            <a:off x="6254496" y="2825496"/>
            <a:ext cx="182880" cy="155448"/>
          </a:xfrm>
          <a:prstGeom prst="rightArrow">
            <a:avLst/>
          </a:prstGeom>
          <a:solidFill>
            <a:srgbClr val="657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6" name="Rounded Rectangle 395"/>
          <p:cNvSpPr/>
          <p:nvPr/>
        </p:nvSpPr>
        <p:spPr>
          <a:xfrm>
            <a:off x="6492240" y="2514600"/>
            <a:ext cx="932688" cy="80467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FA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760">
                <a:solidFill>
                  <a:srgbClr val="657386"/>
                </a:solidFill>
                <a:latin typeface="Microsoft JhengHei"/>
              </a:rPr>
              <a:t>Stage 3</a:t>
            </a:r>
          </a:p>
          <a:p>
            <a:pPr algn="ctr"/>
            <a:r>
              <a:rPr sz="930" b="1">
                <a:solidFill>
                  <a:srgbClr val="FFA648"/>
                </a:solidFill>
                <a:latin typeface="Microsoft JhengHei"/>
              </a:rPr>
              <a:t>Python
Validator</a:t>
            </a:r>
          </a:p>
        </p:txBody>
      </p:sp>
      <p:sp>
        <p:nvSpPr>
          <p:cNvPr id="397" name="Right Arrow 396"/>
          <p:cNvSpPr/>
          <p:nvPr/>
        </p:nvSpPr>
        <p:spPr>
          <a:xfrm>
            <a:off x="7498079" y="2825496"/>
            <a:ext cx="182880" cy="155448"/>
          </a:xfrm>
          <a:prstGeom prst="rightArrow">
            <a:avLst/>
          </a:prstGeom>
          <a:solidFill>
            <a:srgbClr val="657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8" name="TextBox 397"/>
          <p:cNvSpPr txBox="1"/>
          <p:nvPr/>
        </p:nvSpPr>
        <p:spPr>
          <a:xfrm>
            <a:off x="7726679" y="2679192"/>
            <a:ext cx="347472" cy="274320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/>
            <a:r>
              <a:rPr sz="1400" b="1">
                <a:solidFill>
                  <a:srgbClr val="657386"/>
                </a:solidFill>
                <a:latin typeface="Microsoft JhengHei"/>
              </a:rPr>
              <a:t>•••</a:t>
            </a:r>
          </a:p>
        </p:txBody>
      </p:sp>
      <p:sp>
        <p:nvSpPr>
          <p:cNvPr id="399" name="Right Arrow 398"/>
          <p:cNvSpPr/>
          <p:nvPr/>
        </p:nvSpPr>
        <p:spPr>
          <a:xfrm>
            <a:off x="8046720" y="2825496"/>
            <a:ext cx="182880" cy="155448"/>
          </a:xfrm>
          <a:prstGeom prst="rightArrow">
            <a:avLst/>
          </a:prstGeom>
          <a:solidFill>
            <a:srgbClr val="657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0" name="Rounded Rectangle 399"/>
          <p:cNvSpPr/>
          <p:nvPr/>
        </p:nvSpPr>
        <p:spPr>
          <a:xfrm>
            <a:off x="8284464" y="2514600"/>
            <a:ext cx="1024128" cy="80467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9C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760">
                <a:solidFill>
                  <a:srgbClr val="657386"/>
                </a:solidFill>
                <a:latin typeface="Microsoft JhengHei"/>
              </a:rPr>
              <a:t>Stage N</a:t>
            </a:r>
          </a:p>
          <a:p>
            <a:pPr algn="ctr"/>
            <a:r>
              <a:rPr sz="930" b="1">
                <a:solidFill>
                  <a:srgbClr val="39C58A"/>
                </a:solidFill>
                <a:latin typeface="Microsoft JhengHei"/>
              </a:rPr>
              <a:t>Framework
Evidence</a:t>
            </a:r>
          </a:p>
        </p:txBody>
      </p:sp>
      <p:sp>
        <p:nvSpPr>
          <p:cNvPr id="401" name="Right Arrow 400"/>
          <p:cNvSpPr/>
          <p:nvPr/>
        </p:nvSpPr>
        <p:spPr>
          <a:xfrm>
            <a:off x="9381744" y="2825496"/>
            <a:ext cx="182880" cy="155448"/>
          </a:xfrm>
          <a:prstGeom prst="rightArrow">
            <a:avLst/>
          </a:prstGeom>
          <a:solidFill>
            <a:srgbClr val="657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2" name="Rounded Rectangle 401"/>
          <p:cNvSpPr/>
          <p:nvPr/>
        </p:nvSpPr>
        <p:spPr>
          <a:xfrm>
            <a:off x="9619488" y="2514600"/>
            <a:ext cx="1170432" cy="80467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9C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r>
              <a:rPr sz="760">
                <a:solidFill>
                  <a:srgbClr val="657386"/>
                </a:solidFill>
                <a:latin typeface="Microsoft JhengHei"/>
              </a:rPr>
              <a:t>Final Gate</a:t>
            </a:r>
          </a:p>
          <a:p>
            <a:pPr algn="ctr"/>
            <a:r>
              <a:rPr sz="930" b="1">
                <a:solidFill>
                  <a:srgbClr val="39C58A"/>
                </a:solidFill>
                <a:latin typeface="Microsoft JhengHei"/>
              </a:rPr>
              <a:t>Completion
Condition</a:t>
            </a:r>
          </a:p>
        </p:txBody>
      </p:sp>
      <p:sp>
        <p:nvSpPr>
          <p:cNvPr id="403" name="Right Arrow 402"/>
          <p:cNvSpPr/>
          <p:nvPr/>
        </p:nvSpPr>
        <p:spPr>
          <a:xfrm>
            <a:off x="10863072" y="2825496"/>
            <a:ext cx="182880" cy="155448"/>
          </a:xfrm>
          <a:prstGeom prst="rightArrow">
            <a:avLst/>
          </a:prstGeom>
          <a:solidFill>
            <a:srgbClr val="657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4" name="Rounded Rectangle 403"/>
          <p:cNvSpPr/>
          <p:nvPr/>
        </p:nvSpPr>
        <p:spPr>
          <a:xfrm>
            <a:off x="11082528" y="2514600"/>
            <a:ext cx="566928" cy="80467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9C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rIns="36576" rtlCol="0" anchor="ctr"/>
          <a:lstStyle/>
          <a:p>
            <a:pPr algn="ctr"/>
            <a:endParaRPr/>
          </a:p>
          <a:p>
            <a:pPr algn="ctr"/>
            <a:r>
              <a:rPr sz="930" b="1">
                <a:solidFill>
                  <a:srgbClr val="39C58A"/>
                </a:solidFill>
                <a:latin typeface="Microsoft JhengHei"/>
              </a:rPr>
              <a:t>PASS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4315968" y="3456432"/>
            <a:ext cx="7040880" cy="274320"/>
          </a:xfrm>
          <a:prstGeom prst="rect">
            <a:avLst/>
          </a:prstGeom>
          <a:noFill/>
        </p:spPr>
        <p:txBody>
          <a:bodyPr wrap="none" lIns="9144" tIns="9144" rIns="9144" bIns="9144" anchor="ctr">
            <a:spAutoFit/>
          </a:bodyPr>
          <a:lstStyle/>
          <a:p>
            <a:pPr algn="ctr"/>
            <a:r>
              <a:rPr sz="880" b="0">
                <a:solidFill>
                  <a:srgbClr val="657386"/>
                </a:solidFill>
                <a:latin typeface="Microsoft JhengHei"/>
              </a:rPr>
              <a:t>可自由新增 / 移除 / 重排 Stage；每個 Stage 可使用不同 Gate / Retry / Recovery。</a:t>
            </a:r>
          </a:p>
        </p:txBody>
      </p:sp>
      <p:sp>
        <p:nvSpPr>
          <p:cNvPr id="406" name="Rounded Rectangle 405"/>
          <p:cNvSpPr/>
          <p:nvPr/>
        </p:nvSpPr>
        <p:spPr>
          <a:xfrm>
            <a:off x="4709160" y="3950208"/>
            <a:ext cx="603504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A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9144" rIns="9144" bIns="9144" rtlCol="0" anchor="ctr"/>
          <a:lstStyle/>
          <a:p>
            <a:pPr algn="ctr"/>
            <a:r>
              <a:rPr sz="1010" b="1">
                <a:solidFill>
                  <a:srgbClr val="243047"/>
                </a:solidFill>
                <a:latin typeface="Microsoft JhengHei"/>
              </a:rPr>
              <a:t>FAIL → Feedback → restart_at 指定 Stage → Repair / Retry → 再驗證</a:t>
            </a:r>
          </a:p>
        </p:txBody>
      </p:sp>
      <p:sp>
        <p:nvSpPr>
          <p:cNvPr id="407" name="Rounded Rectangle 406"/>
          <p:cNvSpPr/>
          <p:nvPr/>
        </p:nvSpPr>
        <p:spPr>
          <a:xfrm>
            <a:off x="4709160" y="4919472"/>
            <a:ext cx="6035040" cy="640080"/>
          </a:xfrm>
          <a:prstGeom prst="roundRect">
            <a:avLst/>
          </a:prstGeom>
          <a:solidFill>
            <a:srgbClr val="EEFAF4"/>
          </a:solidFill>
          <a:ln w="12700">
            <a:solidFill>
              <a:srgbClr val="39C5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" tIns="9144" rIns="9144" bIns="9144" rtlCol="0" anchor="ctr"/>
          <a:lstStyle/>
          <a:p>
            <a:pPr algn="ctr"/>
            <a:r>
              <a:rPr sz="1000" b="1">
                <a:solidFill>
                  <a:srgbClr val="243047"/>
                </a:solidFill>
                <a:latin typeface="Microsoft JhengHei"/>
              </a:rPr>
              <a:t>必要 Stage 完成 + 必跑 Gate 達成 + Evidence 符合條件 → PASS / STOP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</a:majorFont>
      <a:minorFont>
        <a:latin typeface="Noto Sans CJK TC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315</Words>
  <Application>Microsoft Office PowerPoint</Application>
  <PresentationFormat>寬螢幕</PresentationFormat>
  <Paragraphs>55</Paragraphs>
  <Slides>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10" baseType="lpstr">
      <vt:lpstr>DejaVu Sans</vt:lpstr>
      <vt:lpstr>Noto Sans CJK TC</vt:lpstr>
      <vt:lpstr>Microsoft JhengHei</vt:lpstr>
      <vt:lpstr>Arial</vt:lpstr>
      <vt:lpstr>Symbol</vt:lpstr>
      <vt:lpstr>Times New Roman</vt:lpstr>
      <vt:lpstr>Wingdings</vt:lpstr>
      <vt:lpstr>Office Theme</vt:lpstr>
      <vt:lpstr>PowerPoint 簡報</vt:lpstr>
      <vt:lpstr>PowerPoint 簡報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cp:lastModifiedBy>as798792@gmail.com</cp:lastModifiedBy>
  <cp:revision>7</cp:revision>
  <dcterms:modified xsi:type="dcterms:W3CDTF">2026-09-02T15:02:13Z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2026-08-30T06:36:30Z</dcterms:created>
  <dc:creator>OpenAI</dc:creator>
  <dc:description/>
  <dc:language>en-US</dc:language>
  <cp:lastModifiedBy>OpenAI</cp:lastModifiedBy>
  <dcterms:modified xsi:type="dcterms:W3CDTF">2026-08-30T06:36:30Z</dcterms:modified>
  <cp:revision>1</cp:revision>
  <dc:subject>Regression Test Automation Evolution</dc:subject>
  <dc:title>Regression Test Automation Evolution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18</vt:r8>
  </property>
  <property fmtid="{D5CDD505-2E9C-101B-9397-08002B2CF9AE}" pid="3" name="PresentationFormat">
    <vt:lpwstr>On-screen Show (16:9)</vt:lpwstr>
  </property>
  <property fmtid="{D5CDD505-2E9C-101B-9397-08002B2CF9AE}" pid="4" name="Slides">
    <vt:r8>18</vt:r8>
  </property>
</Properties>
</file>