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63" r:id="rId9"/>
    <p:sldId id="265" r:id="rId10"/>
    <p:sldId id="269" r:id="rId11"/>
    <p:sldId id="266" r:id="rId12"/>
    <p:sldId id="264" r:id="rId13"/>
    <p:sldId id="267" r:id="rId14"/>
    <p:sldId id="268" r:id="rId15"/>
    <p:sldId id="270" r:id="rId16"/>
    <p:sldId id="273" r:id="rId17"/>
    <p:sldId id="282" r:id="rId18"/>
    <p:sldId id="283" r:id="rId19"/>
    <p:sldId id="271" r:id="rId20"/>
    <p:sldId id="280" r:id="rId21"/>
    <p:sldId id="277" r:id="rId22"/>
    <p:sldId id="278" r:id="rId23"/>
    <p:sldId id="279" r:id="rId24"/>
    <p:sldId id="272" r:id="rId25"/>
    <p:sldId id="275" r:id="rId26"/>
    <p:sldId id="276" r:id="rId27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76" autoAdjust="0"/>
  </p:normalViewPr>
  <p:slideViewPr>
    <p:cSldViewPr snapToGrid="0">
      <p:cViewPr>
        <p:scale>
          <a:sx n="75" d="100"/>
          <a:sy n="75" d="100"/>
        </p:scale>
        <p:origin x="300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BEE5DC7-5F26-41B5-9FCE-45FC9B95FFB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B00DD5-579A-4F20-B48B-AB9A1BFD9D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DC1D6C-F9CD-4F9F-B1B5-4E08C0C876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42940B-980A-4176-9957-B8B667BCB3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505FD2-7566-4809-8CF0-9F7B5B133B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617007-74F3-46E2-A83B-FDD9283A6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0499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3E744D-0D9D-404A-82CD-0B8A6EDDB3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982AB-395C-4BCD-91B6-4FEE2B1410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B051F9-13DD-4A49-97BB-0521561543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190FA7-79CE-40D7-BF90-7ED0849894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2B893B-32ED-4DA2-99DB-4D11C91CEE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AF36C3-ED50-447E-9D8B-C86D2B5EC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3F64BF-B301-4010-A0AB-5EEA41D1F4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03DCC8-927B-417E-A0D1-78339F39B5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8C65C-6A4C-4C08-893E-776CB61626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588908-AC6D-4FE7-B06A-B42E033CFA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FEE49-7F79-41E3-912E-3B73E7D0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FEE49-7F79-41E3-912E-3B73E7D0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10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FEE49-7F79-41E3-912E-3B73E7D0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5285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7ED2E0-AC56-4BC2-A746-013C8D85F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FEE49-7F79-41E3-912E-3B73E7D0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91734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FEE49-7F79-41E3-912E-3B73E7D0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65126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9FEE49-7F79-41E3-912E-3B73E7D0C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67877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F8691-9FBF-4431-8908-C272CFF66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F8691-9FBF-4431-8908-C272CFF663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818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51060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B8794"/>
                </a:solidFill>
                <a:effectLst/>
                <a:uFillTx/>
                <a:latin typeface="Noto Sans CJK TC"/>
                <a:ea typeface="Noto Sans CJK TC"/>
              </a:rPr>
              <a:t>Regression Test Automation Evolution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09960" y="651060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26235F2-F635-40FD-897B-888EBBF54104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 rot="1200000">
            <a:off x="8229600" y="0"/>
            <a:ext cx="3748680" cy="374868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39C58A">
              <a:alpha val="12000"/>
            </a:srgbClr>
          </a:solidFill>
          <a:ln w="12700">
            <a:solidFill>
              <a:srgbClr val="39C5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 rot="12600000">
            <a:off x="8549640" y="2788920"/>
            <a:ext cx="3428640" cy="34286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B7BEC">
              <a:alpha val="10000"/>
            </a:srgbClr>
          </a:solidFill>
          <a:ln w="12700">
            <a:solidFill>
              <a:srgbClr val="4B7BE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749880" y="914400"/>
            <a:ext cx="2971440" cy="310680"/>
          </a:xfrm>
          <a:prstGeom prst="roundRect">
            <a:avLst>
              <a:gd name="adj" fmla="val 23529"/>
            </a:avLst>
          </a:prstGeom>
          <a:solidFill>
            <a:srgbClr val="203B35"/>
          </a:solidFill>
          <a:ln w="12700">
            <a:solidFill>
              <a:srgbClr val="203B3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22960" y="960120"/>
            <a:ext cx="2825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Framework → Skills → Workflow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49880" y="1417320"/>
            <a:ext cx="649188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Regression Test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Automation Evolution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786240" y="3218760"/>
            <a:ext cx="6857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C8D2E1"/>
                </a:solidFill>
                <a:effectLst/>
                <a:uFillTx/>
                <a:latin typeface="Noto Sans CJK TC"/>
              </a:rPr>
              <a:t>從執行標準化、</a:t>
            </a:r>
            <a:r>
              <a:rPr lang="en-US" sz="1600" b="0" u="none" strike="noStrike">
                <a:solidFill>
                  <a:srgbClr val="C8D2E1"/>
                </a:solidFill>
                <a:effectLst/>
                <a:uFillTx/>
                <a:latin typeface="Noto Sans CJK TC"/>
              </a:rPr>
              <a:t>Generation Skill </a:t>
            </a:r>
            <a:r>
              <a:rPr lang="zh-CN" sz="1600" b="0" u="none" strike="noStrike">
                <a:solidFill>
                  <a:srgbClr val="C8D2E1"/>
                </a:solidFill>
                <a:effectLst/>
                <a:uFillTx/>
                <a:latin typeface="Noto Sans CJK TC"/>
              </a:rPr>
              <a:t>化，到 </a:t>
            </a:r>
            <a:r>
              <a:rPr lang="en-US" sz="1600" b="0" u="none" strike="noStrike">
                <a:solidFill>
                  <a:srgbClr val="C8D2E1"/>
                </a:solidFill>
                <a:effectLst/>
                <a:uFillTx/>
                <a:latin typeface="Noto Sans CJK TC"/>
              </a:rPr>
              <a:t>Workflow </a:t>
            </a:r>
            <a:r>
              <a:rPr lang="zh-CN" sz="1600" b="0" u="none" strike="noStrike">
                <a:solidFill>
                  <a:srgbClr val="C8D2E1"/>
                </a:solidFill>
                <a:effectLst/>
                <a:uFillTx/>
                <a:latin typeface="Noto Sans CJK TC"/>
              </a:rPr>
              <a:t>驅動的可靠 </a:t>
            </a:r>
            <a:r>
              <a:rPr lang="en-US" sz="1600" b="0" u="none" strike="noStrike">
                <a:solidFill>
                  <a:srgbClr val="C8D2E1"/>
                </a:solidFill>
                <a:effectLst/>
                <a:uFillTx/>
                <a:latin typeface="Noto Sans CJK TC"/>
              </a:rPr>
              <a:t>AI SOP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786240" y="5166360"/>
            <a:ext cx="8503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核心：</a:t>
            </a:r>
            <a:r>
              <a:rPr lang="en-US" sz="13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Skill </a:t>
            </a:r>
            <a:r>
              <a:rPr lang="zh-CN" sz="13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控制「怎麼做」，</a:t>
            </a:r>
            <a:r>
              <a:rPr lang="en-US" sz="13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Workflow </a:t>
            </a:r>
            <a:r>
              <a:rPr lang="zh-CN" sz="13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控制「做到什麼程度才能停止」。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786240" y="59893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4A3B8"/>
                </a:solidFill>
                <a:effectLst/>
                <a:uFillTx/>
                <a:latin typeface="Noto Sans CJK TC"/>
              </a:rPr>
              <a:t>Regression Test Framework × AI Skills × Workflow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9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931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72033"/>
                </a:solidFill>
                <a:latin typeface="Microsoft JhengHei"/>
              </a:rPr>
              <a:t>三階段演進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57386"/>
                </a:solidFill>
                <a:latin typeface="Microsoft JhengHei"/>
              </a:rPr>
              <a:t>不是一次做大，而是逐步解掉下一個瓶頸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874519"/>
            <a:ext cx="2834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11095" y="1444752"/>
            <a:ext cx="585216" cy="585216"/>
          </a:xfrm>
          <a:prstGeom prst="ellipse">
            <a:avLst/>
          </a:prstGeom>
          <a:solidFill>
            <a:srgbClr val="39C58A"/>
          </a:solidFill>
          <a:ln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3" y="2212848"/>
            <a:ext cx="2377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72033"/>
                </a:solidFill>
                <a:latin typeface="Microsoft JhengHei"/>
              </a:rPr>
              <a:t>Stage 1
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3328416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657386"/>
                </a:solidFill>
                <a:latin typeface="Microsoft JhengHei"/>
              </a:rPr>
              <a:t>怎麼執行 Regression？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97864" y="3895344"/>
            <a:ext cx="2011680" cy="0"/>
          </a:xfrm>
          <a:prstGeom prst="line">
            <a:avLst/>
          </a:prstGeom>
          <a:ln w="12700">
            <a:solidFill>
              <a:srgbClr val="DE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7552" y="4187952"/>
            <a:ext cx="24323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9C58A"/>
                </a:solidFill>
                <a:latin typeface="Microsoft JhengHei"/>
              </a:rPr>
              <a:t>標準化執行能力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2834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49240" y="1444752"/>
            <a:ext cx="585216" cy="585216"/>
          </a:xfrm>
          <a:prstGeom prst="ellipse">
            <a:avLst/>
          </a:prstGeom>
          <a:solidFill>
            <a:srgbClr val="4978EB"/>
          </a:solidFill>
          <a:ln>
            <a:solidFill>
              <a:srgbClr val="497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212848"/>
            <a:ext cx="2377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72033"/>
                </a:solidFill>
                <a:latin typeface="Microsoft JhengHei"/>
              </a:rPr>
              <a:t>Stage 2
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328416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657386"/>
                </a:solidFill>
                <a:latin typeface="Microsoft JhengHei"/>
              </a:rPr>
              <a:t>怎麼有系統地產生 Regression？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36008" y="3895344"/>
            <a:ext cx="2011680" cy="0"/>
          </a:xfrm>
          <a:prstGeom prst="line">
            <a:avLst/>
          </a:prstGeom>
          <a:ln w="12700">
            <a:solidFill>
              <a:srgbClr val="DE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25696" y="4187952"/>
            <a:ext cx="24323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4978EB"/>
                </a:solidFill>
                <a:latin typeface="Microsoft JhengHei"/>
              </a:rPr>
              <a:t>標準化 Generation 方法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62672" y="1874519"/>
            <a:ext cx="2834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87384" y="1444752"/>
            <a:ext cx="585216" cy="585216"/>
          </a:xfrm>
          <a:prstGeom prst="ellipse">
            <a:avLst/>
          </a:prstGeom>
          <a:solidFill>
            <a:srgbClr val="F7A350"/>
          </a:solidFill>
          <a:ln>
            <a:solidFill>
              <a:srgbClr val="F7A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1272" y="2212848"/>
            <a:ext cx="23774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72033"/>
                </a:solidFill>
                <a:latin typeface="Microsoft JhengHei"/>
              </a:rPr>
              <a:t>Stage 3
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61478"/>
            <a:ext cx="228600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 dirty="0" err="1" smtClean="0">
                <a:solidFill>
                  <a:srgbClr val="657386"/>
                </a:solidFill>
                <a:latin typeface="Microsoft JhengHei"/>
              </a:rPr>
              <a:t>怎麼</a:t>
            </a:r>
            <a:r>
              <a:rPr lang="zh-TW" altLang="en-US" sz="1050" b="0" dirty="0" smtClean="0">
                <a:solidFill>
                  <a:srgbClr val="657386"/>
                </a:solidFill>
                <a:latin typeface="Microsoft JhengHei"/>
              </a:rPr>
              <a:t>自動</a:t>
            </a:r>
            <a:r>
              <a:rPr lang="zh-TW" altLang="en-US" sz="1050" dirty="0" smtClean="0">
                <a:solidFill>
                  <a:srgbClr val="657386"/>
                </a:solidFill>
                <a:latin typeface="Microsoft JhengHei"/>
              </a:rPr>
              <a:t>和可靠</a:t>
            </a:r>
            <a:r>
              <a:rPr sz="1050" b="0" dirty="0" err="1" smtClean="0">
                <a:solidFill>
                  <a:srgbClr val="657386"/>
                </a:solidFill>
                <a:latin typeface="Microsoft JhengHei"/>
              </a:rPr>
              <a:t>跑完整個</a:t>
            </a:r>
            <a:r>
              <a:rPr sz="1050" b="0" dirty="0" smtClean="0">
                <a:solidFill>
                  <a:srgbClr val="657386"/>
                </a:solidFill>
                <a:latin typeface="Microsoft JhengHei"/>
              </a:rPr>
              <a:t> </a:t>
            </a:r>
            <a:r>
              <a:rPr sz="1050" b="0" dirty="0">
                <a:solidFill>
                  <a:srgbClr val="657386"/>
                </a:solidFill>
                <a:latin typeface="Microsoft JhengHei"/>
              </a:rPr>
              <a:t>SOP？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74152" y="3895344"/>
            <a:ext cx="2011680" cy="0"/>
          </a:xfrm>
          <a:prstGeom prst="line">
            <a:avLst/>
          </a:prstGeom>
          <a:ln w="12700">
            <a:solidFill>
              <a:srgbClr val="DEE4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63840" y="4187952"/>
            <a:ext cx="243230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7A350"/>
                </a:solidFill>
                <a:latin typeface="Microsoft JhengHei"/>
              </a:rPr>
              <a:t>控制完成條件 + 長時間可靠性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21024" y="3319272"/>
            <a:ext cx="484632" cy="0"/>
          </a:xfrm>
          <a:prstGeom prst="line">
            <a:avLst/>
          </a:prstGeom>
          <a:ln w="19050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4087368" y="3278124"/>
            <a:ext cx="82296" cy="82296"/>
          </a:xfrm>
          <a:prstGeom prst="triangle">
            <a:avLst/>
          </a:prstGeom>
          <a:solidFill>
            <a:srgbClr val="B8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7059168" y="3319272"/>
            <a:ext cx="484632" cy="0"/>
          </a:xfrm>
          <a:prstGeom prst="line">
            <a:avLst/>
          </a:prstGeom>
          <a:ln w="19050">
            <a:solidFill>
              <a:srgbClr val="B8C3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7525512" y="3278124"/>
            <a:ext cx="82296" cy="82296"/>
          </a:xfrm>
          <a:prstGeom prst="triangle">
            <a:avLst/>
          </a:prstGeom>
          <a:solidFill>
            <a:srgbClr val="B8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" y="5907024"/>
            <a:ext cx="10881360" cy="475488"/>
          </a:xfrm>
          <a:prstGeom prst="rect">
            <a:avLst/>
          </a:prstGeom>
          <a:solidFill>
            <a:srgbClr val="EFF3F7"/>
          </a:solidFill>
          <a:ln w="12700">
            <a:solidFill>
              <a:srgbClr val="EF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980176"/>
            <a:ext cx="10469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72033"/>
                </a:solidFill>
                <a:latin typeface="Microsoft JhengHei"/>
              </a:rPr>
              <a:t>Framework 解決執行重工 → Skills 解決產生方法 → Workflow 解決品質與長時間可靠性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1 — Regression Framework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先解決每個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Project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都在重做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Test Harness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的問題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658440" y="1298520"/>
            <a:ext cx="475200" cy="475200"/>
          </a:xfrm>
          <a:prstGeom prst="ellipse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58440" y="12985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261800" y="1344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Issue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713160" y="1874520"/>
            <a:ext cx="3273120" cy="2651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713160" y="1874520"/>
            <a:ext cx="54360" cy="26514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914400" y="2103120"/>
            <a:ext cx="420120" cy="420120"/>
          </a:xfrm>
          <a:prstGeom prst="ellipse">
            <a:avLst/>
          </a:prstGeom>
          <a:solidFill>
            <a:srgbClr val="E85D75">
              <a:alpha val="12000"/>
            </a:srgbClr>
          </a:solidFill>
          <a:ln w="12700">
            <a:solidFill>
              <a:srgbClr val="E85D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914400" y="2103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1463040" y="2075760"/>
            <a:ext cx="2304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重複建置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1463040" y="2532960"/>
            <a:ext cx="22672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Local Mock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Fixture / Test Data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Test Execution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Verification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Report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4462200" y="1874520"/>
            <a:ext cx="3273120" cy="2651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4462200" y="1874520"/>
            <a:ext cx="54360" cy="26514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4663440" y="2103120"/>
            <a:ext cx="420120" cy="420120"/>
          </a:xfrm>
          <a:prstGeom prst="ellipse">
            <a:avLst/>
          </a:prstGeom>
          <a:solidFill>
            <a:srgbClr val="F2A65A">
              <a:alpha val="12000"/>
            </a:srgbClr>
          </a:solidFill>
          <a:ln w="12700">
            <a:solidFill>
              <a:srgbClr val="F2A6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4663440" y="2103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5212080" y="2075760"/>
            <a:ext cx="2304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問題本質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6"/>
          <p:cNvSpPr/>
          <p:nvPr/>
        </p:nvSpPr>
        <p:spPr>
          <a:xfrm>
            <a:off x="5212080" y="2532960"/>
            <a:ext cx="22672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業務邏輯不同，但底層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Test Harness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高度重複。每個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Project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都從零開始，增加導入與維護成本。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7"/>
          <p:cNvSpPr/>
          <p:nvPr/>
        </p:nvSpPr>
        <p:spPr>
          <a:xfrm>
            <a:off x="8211240" y="1874520"/>
            <a:ext cx="3273120" cy="2651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8211240" y="1874520"/>
            <a:ext cx="54360" cy="265140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9"/>
          <p:cNvSpPr/>
          <p:nvPr/>
        </p:nvSpPr>
        <p:spPr>
          <a:xfrm>
            <a:off x="8412480" y="2103120"/>
            <a:ext cx="420120" cy="420120"/>
          </a:xfrm>
          <a:prstGeom prst="ellipse">
            <a:avLst/>
          </a:prstGeom>
          <a:solidFill>
            <a:srgbClr val="39C58A">
              <a:alpha val="12000"/>
            </a:srgbClr>
          </a:solidFill>
          <a:ln w="12700">
            <a:solidFill>
              <a:srgbClr val="39C5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0"/>
          <p:cNvSpPr/>
          <p:nvPr/>
        </p:nvSpPr>
        <p:spPr>
          <a:xfrm>
            <a:off x="8412480" y="21031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1"/>
          <p:cNvSpPr/>
          <p:nvPr/>
        </p:nvSpPr>
        <p:spPr>
          <a:xfrm>
            <a:off x="8961120" y="2075760"/>
            <a:ext cx="2304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目標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8961120" y="2532960"/>
            <a:ext cx="22672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把共通能力抽成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Framework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，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Project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只保留真正需要客製的部分。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3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Stage 1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的價值：降低固定建置成本，並為後續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AI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產生的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Case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提供統一執行基礎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sldNum" idx="6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45F148-4A1E-4C3E-9C88-FB493D110C51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1 — Solution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Regression Framework =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標準化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Execution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，而不是完整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E2E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平台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658440" y="1298520"/>
            <a:ext cx="475200" cy="475200"/>
          </a:xfrm>
          <a:prstGeom prst="ellipse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658440" y="12985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1261800" y="1344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Solution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685800" y="2148840"/>
            <a:ext cx="1572480" cy="840960"/>
          </a:xfrm>
          <a:prstGeom prst="roundRect">
            <a:avLst>
              <a:gd name="adj" fmla="val 6522"/>
            </a:avLst>
          </a:prstGeom>
          <a:solidFill>
            <a:srgbClr val="EDF0F4"/>
          </a:solidFill>
          <a:ln w="15240">
            <a:solidFill>
              <a:srgbClr val="17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758880" y="2441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Test Case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2295000" y="2569320"/>
            <a:ext cx="356760" cy="360"/>
          </a:xfrm>
          <a:prstGeom prst="line">
            <a:avLst/>
          </a:prstGeom>
          <a:ln w="2159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2560320" y="2148840"/>
            <a:ext cx="1572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240">
            <a:solidFill>
              <a:srgbClr val="39C58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2633400" y="2441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Mock 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4169520" y="2569320"/>
            <a:ext cx="356760" cy="360"/>
          </a:xfrm>
          <a:prstGeom prst="line">
            <a:avLst/>
          </a:prstGeom>
          <a:ln w="2159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4434840" y="2148840"/>
            <a:ext cx="1572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240">
            <a:solidFill>
              <a:srgbClr val="4B7BEC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4507920" y="2441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Execute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6044040" y="2569320"/>
            <a:ext cx="356760" cy="360"/>
          </a:xfrm>
          <a:prstGeom prst="line">
            <a:avLst/>
          </a:prstGeom>
          <a:ln w="2159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6309360" y="2148840"/>
            <a:ext cx="1572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240">
            <a:solidFill>
              <a:srgbClr val="F2A65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6382440" y="2441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Verify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7918560" y="2569320"/>
            <a:ext cx="356760" cy="360"/>
          </a:xfrm>
          <a:prstGeom prst="line">
            <a:avLst/>
          </a:prstGeom>
          <a:ln w="2159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8183880" y="2148840"/>
            <a:ext cx="1572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240">
            <a:solidFill>
              <a:srgbClr val="E85D75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8256960" y="2441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9793080" y="2569320"/>
            <a:ext cx="356760" cy="360"/>
          </a:xfrm>
          <a:prstGeom prst="line">
            <a:avLst/>
          </a:prstGeom>
          <a:ln w="2159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10058400" y="2148840"/>
            <a:ext cx="1572480" cy="8409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240">
            <a:solidFill>
              <a:srgbClr val="657386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10131480" y="2441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Dispose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786240" y="3794760"/>
            <a:ext cx="3245760" cy="1206720"/>
          </a:xfrm>
          <a:prstGeom prst="roundRect">
            <a:avLst>
              <a:gd name="adj" fmla="val 4545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1005840" y="404172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Ephemeral Mock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4"/>
          <p:cNvSpPr/>
          <p:nvPr/>
        </p:nvSpPr>
        <p:spPr>
          <a:xfrm>
            <a:off x="1005840" y="437076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只在 </a:t>
            </a:r>
            <a:r>
              <a:rPr lang="en-US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Test </a:t>
            </a:r>
            <a:r>
              <a:rPr lang="zh-CN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執行期間存在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每次都從乾淨狀態開始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5"/>
          <p:cNvSpPr/>
          <p:nvPr/>
        </p:nvSpPr>
        <p:spPr>
          <a:xfrm>
            <a:off x="4297680" y="3794760"/>
            <a:ext cx="3245760" cy="1206720"/>
          </a:xfrm>
          <a:prstGeom prst="roundRect">
            <a:avLst>
              <a:gd name="adj" fmla="val 4545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4526280" y="404172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優點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4526280" y="437076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Isolation / Repeatability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Low Maintenance / CI-friendly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7818120" y="3794760"/>
            <a:ext cx="3245760" cy="1206720"/>
          </a:xfrm>
          <a:prstGeom prst="roundRect">
            <a:avLst>
              <a:gd name="adj" fmla="val 4545"/>
            </a:avLst>
          </a:prstGeom>
          <a:solidFill>
            <a:srgbClr val="FFF4E9"/>
          </a:solidFill>
          <a:ln w="12700">
            <a:solidFill>
              <a:srgbClr val="FFF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9"/>
          <p:cNvSpPr/>
          <p:nvPr/>
        </p:nvSpPr>
        <p:spPr>
          <a:xfrm>
            <a:off x="8046720" y="40417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目前邊界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0"/>
          <p:cNvSpPr/>
          <p:nvPr/>
        </p:nvSpPr>
        <p:spPr>
          <a:xfrm>
            <a:off x="8046720" y="4370760"/>
            <a:ext cx="2697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Local / Test-time Mock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不取代 </a:t>
            </a:r>
            <a:r>
              <a:rPr lang="en-US" sz="1050" b="0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Shared Integration / Full E2E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1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2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Framework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解決了「怎麼執行」；下一個問題是「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要怎麼有系統地產生？」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1"/>
          <p:cNvSpPr>
            <a:spLocks noGrp="1"/>
          </p:cNvSpPr>
          <p:nvPr>
            <p:ph type="sldNum" idx="7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9BE7972-4C9D-4C6D-8B8C-E551B67229DD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88AD4FF-1273-4CAB-BF14-3E457523C53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Rectangle 137"/>
          <p:cNvSpPr/>
          <p:nvPr/>
        </p:nvSpPr>
        <p:spPr>
          <a:xfrm>
            <a:off x="566928" y="384048"/>
            <a:ext cx="10972800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tabLst>
                <a:tab pos="0" algn="l"/>
              </a:tabLst>
            </a:pPr>
            <a:r>
              <a:rPr sz="2600" b="1" dirty="0">
                <a:solidFill>
                  <a:srgbClr val="172033"/>
                </a:solidFill>
                <a:latin typeface="Noto Sans CJK TC"/>
                <a:ea typeface="Noto Sans CJK TC"/>
              </a:rPr>
              <a:t>Stage 1 → Stage 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150" b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Framework 統一執行方式後，下一個瓶頸才真正出現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22960" y="1600200"/>
            <a:ext cx="28346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4343400" y="1600200"/>
            <a:ext cx="28346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7863840" y="1600200"/>
            <a:ext cx="283464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822960" y="1600200"/>
            <a:ext cx="54864" cy="3429000"/>
          </a:xfrm>
          <a:prstGeom prst="rect">
            <a:avLst/>
          </a:prstGeom>
          <a:solidFill>
            <a:srgbClr val="39C58A"/>
          </a:solidFill>
          <a:ln w="635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4343400" y="1600200"/>
            <a:ext cx="54864" cy="3429000"/>
          </a:xfrm>
          <a:prstGeom prst="rect">
            <a:avLst/>
          </a:prstGeom>
          <a:solidFill>
            <a:srgbClr val="F2A65A"/>
          </a:solidFill>
          <a:ln w="635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7863840" y="1600200"/>
            <a:ext cx="54864" cy="3429000"/>
          </a:xfrm>
          <a:prstGeom prst="rect">
            <a:avLst/>
          </a:prstGeom>
          <a:solidFill>
            <a:srgbClr val="E85D75"/>
          </a:solidFill>
          <a:ln w="635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024128" y="1828800"/>
            <a:ext cx="420624" cy="420624"/>
          </a:xfrm>
          <a:prstGeom prst="ellipse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024128" y="1828800"/>
            <a:ext cx="420624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39C58A"/>
                </a:solidFill>
                <a:latin typeface="Microsoft JhengHei"/>
                <a:ea typeface="Microsoft JhengHei"/>
                <a:cs typeface="Microsoft JhengHei"/>
              </a:rPr>
              <a:t>✓</a:t>
            </a:r>
          </a:p>
        </p:txBody>
      </p:sp>
      <p:sp>
        <p:nvSpPr>
          <p:cNvPr id="148" name="Oval 147"/>
          <p:cNvSpPr/>
          <p:nvPr/>
        </p:nvSpPr>
        <p:spPr>
          <a:xfrm>
            <a:off x="4544568" y="1828800"/>
            <a:ext cx="420624" cy="420624"/>
          </a:xfrm>
          <a:prstGeom prst="ellipse">
            <a:avLst/>
          </a:prstGeom>
          <a:solidFill>
            <a:srgbClr val="FF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4544568" y="1828800"/>
            <a:ext cx="420624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2A65A"/>
                </a:solidFill>
                <a:latin typeface="Microsoft JhengHei"/>
                <a:ea typeface="Microsoft JhengHei"/>
                <a:cs typeface="Microsoft JhengHei"/>
              </a:rPr>
              <a:t>!</a:t>
            </a:r>
          </a:p>
        </p:txBody>
      </p:sp>
      <p:sp>
        <p:nvSpPr>
          <p:cNvPr id="150" name="Oval 149"/>
          <p:cNvSpPr/>
          <p:nvPr/>
        </p:nvSpPr>
        <p:spPr>
          <a:xfrm>
            <a:off x="8065008" y="1828800"/>
            <a:ext cx="420624" cy="420624"/>
          </a:xfrm>
          <a:prstGeom prst="ellipse">
            <a:avLst/>
          </a:prstGeom>
          <a:solidFill>
            <a:srgbClr val="FD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8065008" y="1828800"/>
            <a:ext cx="420624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E85D75"/>
                </a:solidFill>
                <a:latin typeface="Microsoft JhengHei"/>
                <a:ea typeface="Microsoft JhengHei"/>
                <a:cs typeface="Microsoft JhengHei"/>
              </a:rPr>
              <a:t>?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572768" y="1801368"/>
            <a:ext cx="1865376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50" b="1">
                <a:solidFill>
                  <a:srgbClr val="243047"/>
                </a:solidFill>
                <a:latin typeface="Microsoft JhengHei"/>
                <a:ea typeface="Microsoft JhengHei"/>
                <a:cs typeface="Microsoft JhengHei"/>
              </a:rPr>
              <a:t>已經解掉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572768" y="2258568"/>
            <a:ext cx="1828800" cy="2606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✓ Local Mock / Fixture / Execute / Verify / </a:t>
            </a:r>
            <a:r>
              <a:rPr sz="1050" b="0" dirty="0" smtClean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Report</a:t>
            </a:r>
            <a:endParaRPr lang="en-US" sz="1050" b="0" dirty="0" smtClean="0">
              <a:solidFill>
                <a:srgbClr val="65738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050" b="0" dirty="0" smtClean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
✓ Test Runtime </a:t>
            </a:r>
            <a:r>
              <a:rPr sz="1050" b="0" dirty="0" err="1" smtClean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可重用</a:t>
            </a:r>
            <a:endParaRPr lang="en-US" sz="1050" b="0" dirty="0" smtClean="0">
              <a:solidFill>
                <a:srgbClr val="65738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
✓ Project </a:t>
            </a:r>
            <a:r>
              <a:rPr sz="1050" b="0" dirty="0" err="1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不必重做</a:t>
            </a: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 Test Harness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93208" y="1801368"/>
            <a:ext cx="1865376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50" b="1">
                <a:solidFill>
                  <a:srgbClr val="243047"/>
                </a:solidFill>
                <a:latin typeface="Microsoft JhengHei"/>
                <a:ea typeface="Microsoft JhengHei"/>
                <a:cs typeface="Microsoft JhengHei"/>
              </a:rPr>
              <a:t>仍然存在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93208" y="2258568"/>
            <a:ext cx="2029968" cy="2606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• Regression Case </a:t>
            </a:r>
            <a:r>
              <a:rPr sz="1050" b="0" dirty="0" err="1" smtClean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仍需要產生</a:t>
            </a:r>
            <a:endParaRPr lang="en-US" sz="1050" b="0" dirty="0" smtClean="0">
              <a:solidFill>
                <a:srgbClr val="65738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
• </a:t>
            </a:r>
            <a:r>
              <a:rPr sz="1050" b="0" dirty="0" err="1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單次</a:t>
            </a: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 Prompt 受 Prompt / Context / Model </a:t>
            </a:r>
            <a:r>
              <a:rPr sz="1050" b="0" dirty="0" err="1" smtClean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影響</a:t>
            </a:r>
            <a:endParaRPr lang="en-US" sz="1050" b="0" dirty="0" smtClean="0">
              <a:solidFill>
                <a:srgbClr val="65738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
• </a:t>
            </a:r>
            <a:r>
              <a:rPr sz="1050" b="0" dirty="0" err="1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不同</a:t>
            </a: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 Project </a:t>
            </a:r>
            <a:r>
              <a:rPr sz="1050" b="0" dirty="0" err="1" smtClean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產生方法不一致</a:t>
            </a:r>
            <a:endParaRPr lang="en-US" sz="1050" b="0" dirty="0" smtClean="0">
              <a:solidFill>
                <a:srgbClr val="657386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
• </a:t>
            </a:r>
            <a:r>
              <a:rPr sz="1050" b="0" dirty="0" err="1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小模型一次處理完整任務負擔高</a:t>
            </a:r>
            <a:endParaRPr sz="1050" b="0" dirty="0">
              <a:solidFill>
                <a:srgbClr val="657386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8613648" y="1801368"/>
            <a:ext cx="1865376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550" b="1">
                <a:solidFill>
                  <a:srgbClr val="243047"/>
                </a:solidFill>
                <a:latin typeface="Microsoft JhengHei"/>
                <a:ea typeface="Microsoft JhengHei"/>
                <a:cs typeface="Microsoft JhengHei"/>
              </a:rPr>
              <a:t>真正問題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613648" y="2258568"/>
            <a:ext cx="1828800" cy="2606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Framework </a:t>
            </a:r>
            <a:r>
              <a:rPr sz="1050" b="0" dirty="0" err="1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解決了「怎麼執行</a:t>
            </a: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」，</a:t>
            </a:r>
            <a:r>
              <a:rPr sz="1050" b="0" dirty="0" err="1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但沒有解決「怎麼用一致、可重複的方法產生</a:t>
            </a:r>
            <a:r>
              <a:rPr sz="1050" b="0" dirty="0">
                <a:solidFill>
                  <a:srgbClr val="657386"/>
                </a:solidFill>
                <a:latin typeface="Microsoft JhengHei"/>
                <a:ea typeface="Microsoft JhengHei"/>
                <a:cs typeface="Microsoft JhengHei"/>
              </a:rPr>
              <a:t> Regression」。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58368" y="5760720"/>
            <a:ext cx="10863072" cy="475488"/>
          </a:xfrm>
          <a:prstGeom prst="roundRect">
            <a:avLst/>
          </a:prstGeom>
          <a:solidFill>
            <a:srgbClr val="F1F4F7"/>
          </a:solidFill>
          <a:ln w="12700">
            <a:solidFill>
              <a:srgbClr val="F1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868680" y="5843016"/>
            <a:ext cx="10469880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243047"/>
                </a:solidFill>
                <a:latin typeface="Microsoft JhengHei"/>
                <a:ea typeface="Microsoft JhengHei"/>
                <a:cs typeface="Microsoft JhengHei"/>
              </a:rPr>
              <a:t>因此 Stage 2 不再只靠單一 Prompt，而是把 Generation know-how 拆成 6 Skills / 固定 SOP</a:t>
            </a:r>
          </a:p>
        </p:txBody>
      </p:sp>
      <p:sp>
        <p:nvSpPr>
          <p:cNvPr id="162" name="Right Arrow 161"/>
          <p:cNvSpPr/>
          <p:nvPr/>
        </p:nvSpPr>
        <p:spPr>
          <a:xfrm>
            <a:off x="3749039" y="3227832"/>
            <a:ext cx="438912" cy="164592"/>
          </a:xfrm>
          <a:prstGeom prst="rightArrow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ight Arrow 162"/>
          <p:cNvSpPr/>
          <p:nvPr/>
        </p:nvSpPr>
        <p:spPr>
          <a:xfrm>
            <a:off x="7269480" y="3227832"/>
            <a:ext cx="438912" cy="164592"/>
          </a:xfrm>
          <a:prstGeom prst="rightArrow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62546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2 — 6 Skills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從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Prompt-driven Generation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變成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Skill-driven Generation Process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"/>
          <p:cNvSpPr/>
          <p:nvPr/>
        </p:nvSpPr>
        <p:spPr>
          <a:xfrm>
            <a:off x="658440" y="1298520"/>
            <a:ext cx="475200" cy="475200"/>
          </a:xfrm>
          <a:prstGeom prst="ellipse">
            <a:avLst/>
          </a:prstGeom>
          <a:solidFill>
            <a:srgbClr val="4B7BEC"/>
          </a:solidFill>
          <a:ln w="12700">
            <a:solidFill>
              <a:srgbClr val="4B7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"/>
          <p:cNvSpPr/>
          <p:nvPr/>
        </p:nvSpPr>
        <p:spPr>
          <a:xfrm>
            <a:off x="658440" y="12985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4"/>
          <p:cNvSpPr/>
          <p:nvPr/>
        </p:nvSpPr>
        <p:spPr>
          <a:xfrm>
            <a:off x="1261800" y="1344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Solution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594360" y="2057400"/>
            <a:ext cx="1608840" cy="1325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39C58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1170360" y="1737360"/>
            <a:ext cx="456840" cy="456840"/>
          </a:xfrm>
          <a:prstGeom prst="ellipse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117036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722520" y="2441520"/>
            <a:ext cx="135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Project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Discovery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2258280" y="2724840"/>
            <a:ext cx="302040" cy="360"/>
          </a:xfrm>
          <a:prstGeom prst="line">
            <a:avLst/>
          </a:prstGeom>
          <a:ln w="19050">
            <a:solidFill>
              <a:srgbClr val="C2CBD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2496240" y="2057400"/>
            <a:ext cx="1608840" cy="1325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4B7BEC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3072240" y="1737360"/>
            <a:ext cx="456840" cy="456840"/>
          </a:xfrm>
          <a:prstGeom prst="ellipse">
            <a:avLst/>
          </a:prstGeom>
          <a:solidFill>
            <a:srgbClr val="4B7BEC"/>
          </a:solidFill>
          <a:ln w="12700">
            <a:solidFill>
              <a:srgbClr val="4B7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2"/>
          <p:cNvSpPr/>
          <p:nvPr/>
        </p:nvSpPr>
        <p:spPr>
          <a:xfrm>
            <a:off x="307224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2624400" y="2441520"/>
            <a:ext cx="135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Project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Documentation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4160520" y="2724840"/>
            <a:ext cx="301680" cy="360"/>
          </a:xfrm>
          <a:prstGeom prst="line">
            <a:avLst/>
          </a:prstGeom>
          <a:ln w="19050">
            <a:solidFill>
              <a:srgbClr val="C2CBD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4398120" y="2057400"/>
            <a:ext cx="1608840" cy="1325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F2A65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6"/>
          <p:cNvSpPr/>
          <p:nvPr/>
        </p:nvSpPr>
        <p:spPr>
          <a:xfrm>
            <a:off x="4974480" y="1737360"/>
            <a:ext cx="456840" cy="45684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497448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8"/>
          <p:cNvSpPr/>
          <p:nvPr/>
        </p:nvSpPr>
        <p:spPr>
          <a:xfrm>
            <a:off x="4526280" y="2441520"/>
            <a:ext cx="135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E2E SPEC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Generation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6062400" y="2724840"/>
            <a:ext cx="301680" cy="360"/>
          </a:xfrm>
          <a:prstGeom prst="line">
            <a:avLst/>
          </a:prstGeom>
          <a:ln w="19050">
            <a:solidFill>
              <a:srgbClr val="C2CBD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0"/>
          <p:cNvSpPr/>
          <p:nvPr/>
        </p:nvSpPr>
        <p:spPr>
          <a:xfrm>
            <a:off x="6300360" y="2057400"/>
            <a:ext cx="1608840" cy="1325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E85D75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>
            <a:off x="6876360" y="1737360"/>
            <a:ext cx="456840" cy="456840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687636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6428160" y="2441520"/>
            <a:ext cx="135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Verification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Design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4"/>
          <p:cNvSpPr/>
          <p:nvPr/>
        </p:nvSpPr>
        <p:spPr>
          <a:xfrm>
            <a:off x="7964280" y="2724840"/>
            <a:ext cx="301680" cy="360"/>
          </a:xfrm>
          <a:prstGeom prst="line">
            <a:avLst/>
          </a:prstGeom>
          <a:ln w="19050">
            <a:solidFill>
              <a:srgbClr val="C2CBD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5"/>
          <p:cNvSpPr/>
          <p:nvPr/>
        </p:nvSpPr>
        <p:spPr>
          <a:xfrm>
            <a:off x="8202240" y="2057400"/>
            <a:ext cx="1608840" cy="1325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7D5CC6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6"/>
          <p:cNvSpPr/>
          <p:nvPr/>
        </p:nvSpPr>
        <p:spPr>
          <a:xfrm>
            <a:off x="8778240" y="1737360"/>
            <a:ext cx="456840" cy="456840"/>
          </a:xfrm>
          <a:prstGeom prst="ellipse">
            <a:avLst/>
          </a:prstGeom>
          <a:solidFill>
            <a:srgbClr val="7D5CC6"/>
          </a:solidFill>
          <a:ln w="12700">
            <a:solidFill>
              <a:srgbClr val="7D5CC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7"/>
          <p:cNvSpPr/>
          <p:nvPr/>
        </p:nvSpPr>
        <p:spPr>
          <a:xfrm>
            <a:off x="877824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8"/>
          <p:cNvSpPr/>
          <p:nvPr/>
        </p:nvSpPr>
        <p:spPr>
          <a:xfrm>
            <a:off x="8330040" y="2441520"/>
            <a:ext cx="135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 DSL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Generation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9"/>
          <p:cNvSpPr/>
          <p:nvPr/>
        </p:nvSpPr>
        <p:spPr>
          <a:xfrm>
            <a:off x="9866160" y="2724840"/>
            <a:ext cx="301680" cy="360"/>
          </a:xfrm>
          <a:prstGeom prst="line">
            <a:avLst/>
          </a:prstGeom>
          <a:ln w="19050">
            <a:solidFill>
              <a:srgbClr val="C2CBD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30"/>
          <p:cNvSpPr/>
          <p:nvPr/>
        </p:nvSpPr>
        <p:spPr>
          <a:xfrm>
            <a:off x="10104120" y="2057400"/>
            <a:ext cx="1608840" cy="13255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2A9D8F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1"/>
          <p:cNvSpPr/>
          <p:nvPr/>
        </p:nvSpPr>
        <p:spPr>
          <a:xfrm>
            <a:off x="10680120" y="1737360"/>
            <a:ext cx="456840" cy="4568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2"/>
          <p:cNvSpPr/>
          <p:nvPr/>
        </p:nvSpPr>
        <p:spPr>
          <a:xfrm>
            <a:off x="10680120" y="1737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3"/>
          <p:cNvSpPr/>
          <p:nvPr/>
        </p:nvSpPr>
        <p:spPr>
          <a:xfrm>
            <a:off x="10232280" y="2441520"/>
            <a:ext cx="135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Execution &amp;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Qualification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34"/>
          <p:cNvSpPr/>
          <p:nvPr/>
        </p:nvSpPr>
        <p:spPr>
          <a:xfrm>
            <a:off x="777240" y="3886200"/>
            <a:ext cx="338292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5"/>
          <p:cNvSpPr/>
          <p:nvPr/>
        </p:nvSpPr>
        <p:spPr>
          <a:xfrm>
            <a:off x="777240" y="3886200"/>
            <a:ext cx="54360" cy="1325520"/>
          </a:xfrm>
          <a:prstGeom prst="rect">
            <a:avLst/>
          </a:prstGeom>
          <a:solidFill>
            <a:srgbClr val="4B7BEC"/>
          </a:solidFill>
          <a:ln w="12700">
            <a:solidFill>
              <a:srgbClr val="4B7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36"/>
          <p:cNvSpPr/>
          <p:nvPr/>
        </p:nvSpPr>
        <p:spPr>
          <a:xfrm>
            <a:off x="978480" y="4114800"/>
            <a:ext cx="420120" cy="420120"/>
          </a:xfrm>
          <a:prstGeom prst="ellipse">
            <a:avLst/>
          </a:prstGeom>
          <a:solidFill>
            <a:srgbClr val="4B7BEC">
              <a:alpha val="12000"/>
            </a:srgbClr>
          </a:solidFill>
          <a:ln w="12700">
            <a:solidFill>
              <a:srgbClr val="4B7BE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7"/>
          <p:cNvSpPr/>
          <p:nvPr/>
        </p:nvSpPr>
        <p:spPr>
          <a:xfrm>
            <a:off x="978480" y="4114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8"/>
          <p:cNvSpPr/>
          <p:nvPr/>
        </p:nvSpPr>
        <p:spPr>
          <a:xfrm>
            <a:off x="1527120" y="4087440"/>
            <a:ext cx="2413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一致的方法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39"/>
          <p:cNvSpPr/>
          <p:nvPr/>
        </p:nvSpPr>
        <p:spPr>
          <a:xfrm>
            <a:off x="1527120" y="454464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不同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Project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使用相同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Generation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方法，降低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Prompt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因人而異。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0"/>
          <p:cNvSpPr/>
          <p:nvPr/>
        </p:nvSpPr>
        <p:spPr>
          <a:xfrm>
            <a:off x="4407480" y="3886200"/>
            <a:ext cx="338292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1"/>
          <p:cNvSpPr/>
          <p:nvPr/>
        </p:nvSpPr>
        <p:spPr>
          <a:xfrm>
            <a:off x="4407480" y="3886200"/>
            <a:ext cx="54360" cy="132552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42"/>
          <p:cNvSpPr/>
          <p:nvPr/>
        </p:nvSpPr>
        <p:spPr>
          <a:xfrm>
            <a:off x="4608720" y="4114800"/>
            <a:ext cx="420120" cy="420120"/>
          </a:xfrm>
          <a:prstGeom prst="ellipse">
            <a:avLst/>
          </a:prstGeom>
          <a:solidFill>
            <a:srgbClr val="39C58A">
              <a:alpha val="12000"/>
            </a:srgbClr>
          </a:solidFill>
          <a:ln w="12700">
            <a:solidFill>
              <a:srgbClr val="39C5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3"/>
          <p:cNvSpPr/>
          <p:nvPr/>
        </p:nvSpPr>
        <p:spPr>
          <a:xfrm>
            <a:off x="4608720" y="4114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4"/>
          <p:cNvSpPr/>
          <p:nvPr/>
        </p:nvSpPr>
        <p:spPr>
          <a:xfrm>
            <a:off x="5157360" y="4087440"/>
            <a:ext cx="2413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降低複雜度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5"/>
          <p:cNvSpPr/>
          <p:nvPr/>
        </p:nvSpPr>
        <p:spPr>
          <a:xfrm>
            <a:off x="5157360" y="454464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把大任務拆成小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Skill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，降低小模型一次處理所有事情的負擔。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6"/>
          <p:cNvSpPr/>
          <p:nvPr/>
        </p:nvSpPr>
        <p:spPr>
          <a:xfrm>
            <a:off x="8046720" y="3886200"/>
            <a:ext cx="338292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47"/>
          <p:cNvSpPr/>
          <p:nvPr/>
        </p:nvSpPr>
        <p:spPr>
          <a:xfrm>
            <a:off x="8046720" y="3886200"/>
            <a:ext cx="54360" cy="13255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48"/>
          <p:cNvSpPr/>
          <p:nvPr/>
        </p:nvSpPr>
        <p:spPr>
          <a:xfrm>
            <a:off x="8247960" y="4114800"/>
            <a:ext cx="420120" cy="420120"/>
          </a:xfrm>
          <a:prstGeom prst="ellipse">
            <a:avLst/>
          </a:prstGeom>
          <a:solidFill>
            <a:srgbClr val="F2A65A">
              <a:alpha val="12000"/>
            </a:srgbClr>
          </a:solidFill>
          <a:ln w="12700">
            <a:solidFill>
              <a:srgbClr val="F2A6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9"/>
          <p:cNvSpPr/>
          <p:nvPr/>
        </p:nvSpPr>
        <p:spPr>
          <a:xfrm>
            <a:off x="8247960" y="4114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0"/>
          <p:cNvSpPr/>
          <p:nvPr/>
        </p:nvSpPr>
        <p:spPr>
          <a:xfrm>
            <a:off x="8796600" y="4087440"/>
            <a:ext cx="2413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Framework-ready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1"/>
          <p:cNvSpPr/>
          <p:nvPr/>
        </p:nvSpPr>
        <p:spPr>
          <a:xfrm>
            <a:off x="8796600" y="4544640"/>
            <a:ext cx="2377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從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E2E Sample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延伸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Case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，最後產出符合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Framework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的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Test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2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3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Stage 2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解決「如何有系統地產生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」；但還沒解決「能不能可靠跑完整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SOP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sldNum" idx="9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D650E1B-B5E1-4391-8112-D8B1A6F72B31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2 → Stage 3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有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Framework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、有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Skills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之後，下一個瓶頸才真正出現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822960" y="1600200"/>
            <a:ext cx="2834280" cy="3428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822960" y="1600200"/>
            <a:ext cx="54360" cy="342864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"/>
          <p:cNvSpPr/>
          <p:nvPr/>
        </p:nvSpPr>
        <p:spPr>
          <a:xfrm>
            <a:off x="1024200" y="1828800"/>
            <a:ext cx="420120" cy="420120"/>
          </a:xfrm>
          <a:prstGeom prst="ellipse">
            <a:avLst/>
          </a:prstGeom>
          <a:solidFill>
            <a:srgbClr val="39C58A">
              <a:alpha val="12000"/>
            </a:srgbClr>
          </a:solidFill>
          <a:ln w="12700">
            <a:solidFill>
              <a:srgbClr val="39C5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1024200" y="1828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1572840" y="1801440"/>
            <a:ext cx="1865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已經解掉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1572840" y="2258640"/>
            <a:ext cx="1828440" cy="26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✓ Framework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統一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執行</a:t>
            </a:r>
            <a:endParaRPr lang="en-US" altLang="zh-CN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✓ 6 Skills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統一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Generation 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方法</a:t>
            </a:r>
            <a:endParaRPr lang="en-US" altLang="zh-CN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✓ </a:t>
            </a:r>
            <a:r>
              <a:rPr lang="en-US" sz="1050" b="0" u="none" strike="noStrike" dirty="0" err="1">
                <a:solidFill>
                  <a:srgbClr val="657386"/>
                </a:solidFill>
                <a:effectLst/>
                <a:uFillTx/>
                <a:latin typeface="Noto Sans CJK TC"/>
              </a:rPr>
              <a:t>可從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 E2E Sample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延伸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Regression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4343400" y="1600200"/>
            <a:ext cx="2834280" cy="3428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4343400" y="1600200"/>
            <a:ext cx="54360" cy="34286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4544640" y="1828800"/>
            <a:ext cx="420120" cy="420120"/>
          </a:xfrm>
          <a:prstGeom prst="ellipse">
            <a:avLst/>
          </a:prstGeom>
          <a:solidFill>
            <a:srgbClr val="F2A65A">
              <a:alpha val="12000"/>
            </a:srgbClr>
          </a:solidFill>
          <a:ln w="12700">
            <a:solidFill>
              <a:srgbClr val="F2A6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544640" y="1828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093280" y="1801440"/>
            <a:ext cx="1865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仍然</a:t>
            </a:r>
            <a:r>
              <a:rPr lang="zh-CN" sz="15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存在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093280" y="2258640"/>
            <a:ext cx="1828440" cy="26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altLang="en-US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小模型常見問題</a:t>
            </a:r>
            <a:r>
              <a:rPr lang="zh-TW" altLang="en-US" sz="1050" dirty="0" smtClean="0">
                <a:solidFill>
                  <a:srgbClr val="657386"/>
                </a:solidFill>
                <a:latin typeface="Noto Sans CJK TC"/>
              </a:rPr>
              <a:t>：</a:t>
            </a:r>
            <a:endParaRPr lang="en-US" altLang="zh-TW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• AI 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可能</a:t>
            </a:r>
            <a:r>
              <a:rPr lang="zh-TW" altLang="en-US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「大量</a:t>
            </a:r>
            <a:r>
              <a:rPr lang="zh-TW" altLang="en-US" sz="1050" dirty="0" smtClean="0">
                <a:solidFill>
                  <a:srgbClr val="657386"/>
                </a:solidFill>
                <a:latin typeface="Noto Sans CJK TC"/>
              </a:rPr>
              <a:t>」遺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漏 </a:t>
            </a:r>
            <a:r>
              <a:rPr lang="en-US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Case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</a:t>
            </a:r>
            <a:r>
              <a:rPr lang="en-US" sz="1050" b="0" u="none" strike="noStrike" dirty="0" err="1" smtClean="0">
                <a:solidFill>
                  <a:srgbClr val="657386"/>
                </a:solidFill>
                <a:effectLst/>
                <a:uFillTx/>
                <a:latin typeface="Noto Sans CJK TC"/>
              </a:rPr>
              <a:t>產出品質</a:t>
            </a:r>
            <a:r>
              <a:rPr lang="zh-TW" altLang="en-US" sz="1050" dirty="0">
                <a:solidFill>
                  <a:srgbClr val="657386"/>
                </a:solidFill>
              </a:rPr>
              <a:t> 「</a:t>
            </a:r>
            <a:r>
              <a:rPr lang="zh-TW" altLang="en-US" sz="1050" dirty="0" smtClean="0">
                <a:solidFill>
                  <a:srgbClr val="657386"/>
                </a:solidFill>
              </a:rPr>
              <a:t>嚴重</a:t>
            </a:r>
            <a:r>
              <a:rPr lang="zh-TW" altLang="en-US" sz="1050" dirty="0">
                <a:solidFill>
                  <a:srgbClr val="657386"/>
                </a:solidFill>
              </a:rPr>
              <a:t>」 </a:t>
            </a:r>
            <a:r>
              <a:rPr lang="en-US" sz="1050" b="0" u="none" strike="noStrike" dirty="0" err="1" smtClean="0">
                <a:solidFill>
                  <a:srgbClr val="657386"/>
                </a:solidFill>
                <a:effectLst/>
                <a:uFillTx/>
                <a:latin typeface="Noto Sans CJK TC"/>
              </a:rPr>
              <a:t>不穩</a:t>
            </a:r>
            <a:endParaRPr lang="en-US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</a:t>
            </a:r>
            <a:r>
              <a:rPr lang="en-US" sz="1050" b="0" u="none" strike="noStrike" dirty="0" err="1">
                <a:solidFill>
                  <a:srgbClr val="657386"/>
                </a:solidFill>
                <a:effectLst/>
                <a:uFillTx/>
                <a:latin typeface="Noto Sans CJK TC"/>
              </a:rPr>
              <a:t>需要人工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 </a:t>
            </a:r>
            <a:r>
              <a:rPr lang="en-US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Continue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FAIL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後人工要求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修正</a:t>
            </a:r>
            <a:endParaRPr lang="en-US" altLang="zh-CN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API / Session / Process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可能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中斷</a:t>
            </a:r>
            <a:endParaRPr lang="en-US" altLang="zh-CN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altLang="zh-CN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>
              <a:tabLst>
                <a:tab pos="0" algn="l"/>
              </a:tabLst>
            </a:pPr>
            <a:r>
              <a:rPr lang="en-US" altLang="zh-TW" sz="1050" dirty="0" smtClean="0">
                <a:solidFill>
                  <a:srgbClr val="657386"/>
                </a:solidFill>
              </a:rPr>
              <a:t>• </a:t>
            </a:r>
            <a:r>
              <a:rPr lang="zh-TW" altLang="en-US" sz="1050" dirty="0" smtClean="0">
                <a:solidFill>
                  <a:srgbClr val="657386"/>
                </a:solidFill>
              </a:rPr>
              <a:t>失敗、重啟、完成判斷缺乏自動恢復與控制</a:t>
            </a:r>
            <a:endParaRPr lang="en-US" altLang="zh-CN" sz="1050" dirty="0">
              <a:solidFill>
                <a:srgbClr val="657386"/>
              </a:solidFill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7863840" y="1600200"/>
            <a:ext cx="2834280" cy="3428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7863840" y="1600200"/>
            <a:ext cx="54360" cy="342864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8065080" y="1828800"/>
            <a:ext cx="420120" cy="420120"/>
          </a:xfrm>
          <a:prstGeom prst="ellipse">
            <a:avLst/>
          </a:prstGeom>
          <a:solidFill>
            <a:srgbClr val="E85D75">
              <a:alpha val="12000"/>
            </a:srgbClr>
          </a:solidFill>
          <a:ln w="12700">
            <a:solidFill>
              <a:srgbClr val="E85D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8065080" y="18288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8613720" y="1801440"/>
            <a:ext cx="1865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真正問題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8613720" y="2258640"/>
            <a:ext cx="1828440" cy="26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小模型可以完成「單一步驟」，但不一定能長時間可靠完成「一整套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SOP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」</a:t>
            </a:r>
            <a:r>
              <a:rPr lang="zh-CN" sz="10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。</a:t>
            </a:r>
            <a:endParaRPr lang="en-US" altLang="zh-CN" sz="1050" b="0" u="none" strike="noStrike" dirty="0" smtClean="0">
              <a:solidFill>
                <a:srgbClr val="657386"/>
              </a:solidFill>
              <a:effectLst/>
              <a:uFillTx/>
              <a:latin typeface="Noto Sans CJK TC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0"/>
          <p:cNvSpPr/>
          <p:nvPr/>
        </p:nvSpPr>
        <p:spPr>
          <a:xfrm>
            <a:off x="3749040" y="3309840"/>
            <a:ext cx="457200" cy="360"/>
          </a:xfrm>
          <a:prstGeom prst="line">
            <a:avLst/>
          </a:prstGeom>
          <a:ln w="25400">
            <a:solidFill>
              <a:srgbClr val="DCE3E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1"/>
          <p:cNvSpPr/>
          <p:nvPr/>
        </p:nvSpPr>
        <p:spPr>
          <a:xfrm>
            <a:off x="7269480" y="3309840"/>
            <a:ext cx="457200" cy="360"/>
          </a:xfrm>
          <a:prstGeom prst="line">
            <a:avLst/>
          </a:prstGeom>
          <a:ln w="25400">
            <a:solidFill>
              <a:srgbClr val="DCE3E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2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因此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Stage 3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不再只是「加一個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Skill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」，而是把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SOP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與完成條件交給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Workflow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控制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sldNum" idx="10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E6721E-83CA-4C73-8E43-DF64E116D805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3 — Workflow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sz="1150" dirty="0" err="1">
                <a:solidFill>
                  <a:srgbClr val="657386"/>
                </a:solidFill>
                <a:latin typeface="Noto Sans CJK TC"/>
              </a:rPr>
              <a:t>小模型的困境：Skill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/ Goal / Agent Loop </a:t>
            </a:r>
            <a:r>
              <a:rPr sz="1150" dirty="0" err="1">
                <a:solidFill>
                  <a:srgbClr val="657386"/>
                </a:solidFill>
                <a:latin typeface="Noto Sans CJK TC"/>
              </a:rPr>
              <a:t>能改善單次行為，但仍難以長時間穩定完成複雜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Regression SOP</a:t>
            </a:r>
            <a:endParaRPr lang="en-US" sz="115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658440" y="1298520"/>
            <a:ext cx="475200" cy="4752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658440" y="12985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TC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1261800" y="1344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</a:rPr>
              <a:t>Thinking Shift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749880" y="1828800"/>
            <a:ext cx="4754520" cy="283428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1051560" y="2121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400" b="1" dirty="0" err="1" smtClean="0"/>
              <a:t>目前的嘗試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7"/>
          <p:cNvSpPr/>
          <p:nvPr/>
        </p:nvSpPr>
        <p:spPr>
          <a:xfrm>
            <a:off x="1051560" y="2670120"/>
            <a:ext cx="4279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sz="2000" b="1" dirty="0"/>
              <a:t>Skill / Goal / Agent </a:t>
            </a:r>
            <a:r>
              <a:rPr sz="2000" b="1" dirty="0" smtClean="0"/>
              <a:t>Loop</a:t>
            </a:r>
            <a:r>
              <a:rPr lang="zh-TW" altLang="en-US" dirty="0"/>
              <a:t> </a:t>
            </a:r>
            <a:r>
              <a:rPr sz="2000" b="1" dirty="0" smtClean="0"/>
              <a:t>(</a:t>
            </a:r>
            <a:r>
              <a:rPr lang="en-US" sz="2000" b="1" dirty="0" smtClean="0"/>
              <a:t>ralph-loop</a:t>
            </a:r>
            <a:r>
              <a:rPr sz="2000" b="1" dirty="0" smtClean="0"/>
              <a:t>)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1051560" y="3977640"/>
            <a:ext cx="3977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200" dirty="0"/>
              <a:t>→ </a:t>
            </a:r>
            <a:r>
              <a:rPr sz="1200" dirty="0" err="1" smtClean="0"/>
              <a:t>能約束</a:t>
            </a:r>
            <a:r>
              <a:rPr lang="zh-TW" altLang="en-US" sz="1200" dirty="0" smtClean="0"/>
              <a:t>簡易任務</a:t>
            </a:r>
            <a:r>
              <a:rPr sz="1200" dirty="0" err="1" smtClean="0"/>
              <a:t>行為</a:t>
            </a:r>
            <a:r>
              <a:rPr sz="1200" dirty="0" err="1"/>
              <a:t>，但長時間仍可能偏離、停住、反覆</a:t>
            </a:r>
            <a:r>
              <a:rPr sz="1200" dirty="0"/>
              <a:t> </a:t>
            </a:r>
            <a:r>
              <a:rPr sz="1200" dirty="0" err="1"/>
              <a:t>Loop，且需要人工介入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5715000" y="2788920"/>
            <a:ext cx="639720" cy="731160"/>
          </a:xfrm>
          <a:prstGeom prst="chevron">
            <a:avLst>
              <a:gd name="adj" fmla="val 50000"/>
            </a:avLst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6629400" y="1828800"/>
            <a:ext cx="4754520" cy="2834280"/>
          </a:xfrm>
          <a:prstGeom prst="roundRect">
            <a:avLst>
              <a:gd name="adj" fmla="val 2258"/>
            </a:avLst>
          </a:prstGeom>
          <a:solidFill>
            <a:srgbClr val="FFF4E9"/>
          </a:solidFill>
          <a:ln w="12700">
            <a:solidFill>
              <a:srgbClr val="FFF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1"/>
          <p:cNvSpPr/>
          <p:nvPr/>
        </p:nvSpPr>
        <p:spPr>
          <a:xfrm>
            <a:off x="6931080" y="2121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400" b="1" dirty="0" err="1"/>
              <a:t>換個方向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6931080" y="2670120"/>
            <a:ext cx="4068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800" b="1" dirty="0"/>
              <a:t>「</a:t>
            </a:r>
            <a:r>
              <a:rPr sz="1800" b="1" dirty="0" err="1"/>
              <a:t>不要只靠</a:t>
            </a:r>
            <a:r>
              <a:rPr sz="1800" b="1" dirty="0"/>
              <a:t> Prompt </a:t>
            </a:r>
            <a:r>
              <a:rPr sz="1800" b="1" dirty="0" err="1"/>
              <a:t>約束模型；把</a:t>
            </a:r>
            <a:r>
              <a:rPr sz="1800" b="1" dirty="0"/>
              <a:t> </a:t>
            </a:r>
            <a:r>
              <a:rPr sz="1800" b="1" dirty="0" err="1"/>
              <a:t>SOP、狀態與停止條件交給程式控制</a:t>
            </a:r>
            <a:r>
              <a:rPr sz="1800" b="1" dirty="0"/>
              <a:t>。」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3"/>
          <p:cNvSpPr/>
          <p:nvPr/>
        </p:nvSpPr>
        <p:spPr>
          <a:xfrm>
            <a:off x="6931080" y="3977640"/>
            <a:ext cx="3977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200" dirty="0"/>
              <a:t>→ Workflow </a:t>
            </a:r>
            <a:r>
              <a:rPr sz="1200" dirty="0" err="1"/>
              <a:t>顯式控制</a:t>
            </a:r>
            <a:r>
              <a:rPr sz="1200" dirty="0"/>
              <a:t> </a:t>
            </a:r>
            <a:r>
              <a:rPr sz="1200" dirty="0" err="1"/>
              <a:t>Stage、Retry</a:t>
            </a:r>
            <a:r>
              <a:rPr sz="1200" dirty="0"/>
              <a:t> / </a:t>
            </a:r>
            <a:r>
              <a:rPr sz="1200" dirty="0" err="1"/>
              <a:t>Recovery、Completion</a:t>
            </a:r>
            <a:r>
              <a:rPr sz="1200" dirty="0"/>
              <a:t> Condition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300" dirty="0" err="1"/>
              <a:t>核心：Skill</a:t>
            </a:r>
            <a:r>
              <a:rPr sz="1300" dirty="0"/>
              <a:t> </a:t>
            </a:r>
            <a:r>
              <a:rPr sz="1300" dirty="0" err="1"/>
              <a:t>是軟性</a:t>
            </a:r>
            <a:r>
              <a:rPr sz="1300" dirty="0"/>
              <a:t> </a:t>
            </a:r>
            <a:r>
              <a:rPr sz="1300" dirty="0" err="1"/>
              <a:t>Guidance；Workflow</a:t>
            </a:r>
            <a:r>
              <a:rPr sz="1300" dirty="0"/>
              <a:t> </a:t>
            </a:r>
            <a:r>
              <a:rPr sz="1300" dirty="0" err="1"/>
              <a:t>把流程控制與完成條件變成硬性規則</a:t>
            </a:r>
            <a:endParaRPr lang="en-US" sz="105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11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87BA7F0-8EB4-4B56-8786-0D3E80D11D71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Skill vs Workflow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兩者不是替代關係，而是不同層級的控制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777240" y="1508760"/>
            <a:ext cx="4891680" cy="3611520"/>
          </a:xfrm>
          <a:prstGeom prst="roundRect">
            <a:avLst>
              <a:gd name="adj" fmla="val 2025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1051560" y="1828800"/>
            <a:ext cx="1508400" cy="310680"/>
          </a:xfrm>
          <a:prstGeom prst="roundRect">
            <a:avLst>
              <a:gd name="adj" fmla="val 23529"/>
            </a:avLst>
          </a:prstGeom>
          <a:solidFill>
            <a:srgbClr val="DDE8FF"/>
          </a:solidFill>
          <a:ln w="12700">
            <a:solidFill>
              <a:srgbClr val="DDE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1124640" y="1874520"/>
            <a:ext cx="1362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Soft Guidance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5"/>
          <p:cNvSpPr/>
          <p:nvPr/>
        </p:nvSpPr>
        <p:spPr>
          <a:xfrm>
            <a:off x="1051560" y="23317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Skill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1051560" y="2880360"/>
            <a:ext cx="3794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控制 </a:t>
            </a:r>
            <a:r>
              <a:rPr lang="en-US" sz="18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Agent</a:t>
            </a:r>
            <a:r>
              <a:rPr lang="zh-CN" sz="18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「怎麼做」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1051560" y="352044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• 怎麼分析 Project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• 怎麼產 SPEC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• 怎麼產 Regression DSL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• 用什麼格式與規則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8"/>
          <p:cNvSpPr/>
          <p:nvPr/>
        </p:nvSpPr>
        <p:spPr>
          <a:xfrm>
            <a:off x="6492240" y="1508760"/>
            <a:ext cx="4891680" cy="3611520"/>
          </a:xfrm>
          <a:prstGeom prst="roundRect">
            <a:avLst>
              <a:gd name="adj" fmla="val 2025"/>
            </a:avLst>
          </a:prstGeom>
          <a:solidFill>
            <a:srgbClr val="FFF4E9"/>
          </a:solidFill>
          <a:ln w="12700">
            <a:solidFill>
              <a:srgbClr val="FFF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6766560" y="1828800"/>
            <a:ext cx="1599840" cy="310680"/>
          </a:xfrm>
          <a:prstGeom prst="roundRect">
            <a:avLst>
              <a:gd name="adj" fmla="val 23529"/>
            </a:avLst>
          </a:prstGeom>
          <a:solidFill>
            <a:srgbClr val="FFE7CC"/>
          </a:solidFill>
          <a:ln w="12700">
            <a:solidFill>
              <a:srgbClr val="FFE7C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6839640" y="1874520"/>
            <a:ext cx="1453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Hard Constraint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1"/>
          <p:cNvSpPr/>
          <p:nvPr/>
        </p:nvSpPr>
        <p:spPr>
          <a:xfrm>
            <a:off x="6766560" y="2331720"/>
            <a:ext cx="35458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 smtClean="0">
                <a:solidFill>
                  <a:srgbClr val="F2A65A"/>
                </a:solidFill>
                <a:effectLst/>
                <a:uFillTx/>
                <a:latin typeface="Noto Sans CJK TC"/>
              </a:rPr>
              <a:t>Workflow / Loop Tool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6766560" y="288036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控制 </a:t>
            </a:r>
            <a:r>
              <a:rPr lang="en-US" sz="18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Agent</a:t>
            </a:r>
            <a:r>
              <a:rPr lang="zh-CN" sz="18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「何時才准停」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6766560" y="352044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Stage </a:t>
            </a:r>
            <a:r>
              <a:rPr lang="zh-CN" sz="120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順序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Retry / Recovery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Quality Gate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• Completion Condition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defRPr/>
            </a:pPr>
            <a:r>
              <a:rPr lang="zh-TW" altLang="en-US" sz="1050" dirty="0"/>
              <a:t>整體就像老師教學生：</a:t>
            </a:r>
            <a:r>
              <a:rPr lang="en-US" altLang="zh-TW" sz="1050" dirty="0"/>
              <a:t>Skill </a:t>
            </a:r>
            <a:r>
              <a:rPr lang="zh-TW" altLang="en-US" sz="1050" dirty="0"/>
              <a:t>負責教 </a:t>
            </a:r>
            <a:r>
              <a:rPr lang="en-US" altLang="zh-TW" sz="1050" dirty="0"/>
              <a:t>AI</a:t>
            </a:r>
            <a:r>
              <a:rPr lang="zh-TW" altLang="en-US" sz="1050" dirty="0"/>
              <a:t>「怎麼做」、挑戰並修正做法；</a:t>
            </a:r>
            <a:r>
              <a:rPr lang="en-US" altLang="zh-TW" sz="1050" dirty="0"/>
              <a:t>Workflow </a:t>
            </a:r>
            <a:r>
              <a:rPr lang="zh-TW" altLang="en-US" sz="1050" dirty="0"/>
              <a:t>最後的驗證則像考試，決定結果是否達標。若未通過，就重考或重修，直到符合標準才算完成。</a:t>
            </a:r>
            <a:endParaRPr lang="en-US" altLang="zh-TW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sldNum" idx="13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0317155-53FE-4BB8-ADD6-F2DB3C4F16EF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RL-like Feedback Loop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sz="1150" dirty="0" err="1" smtClean="0">
                <a:solidFill>
                  <a:srgbClr val="657386"/>
                </a:solidFill>
                <a:latin typeface="Noto Sans CJK TC"/>
              </a:rPr>
              <a:t>就像強化學習</a:t>
            </a:r>
            <a:r>
              <a:rPr lang="zh-TW" altLang="en-US" sz="1150" dirty="0" smtClean="0">
                <a:solidFill>
                  <a:srgbClr val="657386"/>
                </a:solidFill>
                <a:latin typeface="Noto Sans CJK TC"/>
              </a:rPr>
              <a:t>依照</a:t>
            </a:r>
            <a:r>
              <a:rPr lang="en-US" altLang="zh-TW" sz="1150" dirty="0" smtClean="0">
                <a:solidFill>
                  <a:srgbClr val="657386"/>
                </a:solidFill>
                <a:latin typeface="Noto Sans CJK TC"/>
              </a:rPr>
              <a:t>Reward</a:t>
            </a:r>
            <a:r>
              <a:rPr lang="zh-TW" altLang="en-US" sz="1150" dirty="0" smtClean="0">
                <a:solidFill>
                  <a:srgbClr val="657386"/>
                </a:solidFill>
                <a:latin typeface="Noto Sans CJK TC"/>
              </a:rPr>
              <a:t>訓練</a:t>
            </a:r>
            <a:r>
              <a:rPr sz="1150" dirty="0" err="1" smtClean="0">
                <a:solidFill>
                  <a:srgbClr val="657386"/>
                </a:solidFill>
                <a:latin typeface="Noto Sans CJK TC"/>
              </a:rPr>
              <a:t>Model；Workflow</a:t>
            </a:r>
            <a:r>
              <a:rPr sz="1150" dirty="0" smtClean="0">
                <a:solidFill>
                  <a:srgbClr val="657386"/>
                </a:solidFill>
                <a:latin typeface="Noto Sans CJK TC"/>
              </a:rPr>
              <a:t> 則</a:t>
            </a:r>
            <a:r>
              <a:rPr lang="zh-TW" altLang="en-US" sz="1150" dirty="0" smtClean="0">
                <a:solidFill>
                  <a:srgbClr val="657386"/>
                </a:solidFill>
                <a:latin typeface="Noto Sans CJK TC"/>
              </a:rPr>
              <a:t>是依照</a:t>
            </a:r>
            <a:r>
              <a:rPr lang="en-US" altLang="zh-TW" sz="1150" dirty="0" smtClean="0">
                <a:solidFill>
                  <a:srgbClr val="657386"/>
                </a:solidFill>
                <a:latin typeface="Noto Sans CJK TC"/>
              </a:rPr>
              <a:t>Review or </a:t>
            </a:r>
            <a:r>
              <a:rPr lang="en-US" altLang="zh-TW" sz="1150" dirty="0" smtClean="0">
                <a:solidFill>
                  <a:srgbClr val="657386"/>
                </a:solidFill>
              </a:rPr>
              <a:t>Validate </a:t>
            </a:r>
            <a:r>
              <a:rPr lang="zh-TW" altLang="en-US" sz="1150" dirty="0">
                <a:solidFill>
                  <a:srgbClr val="657386"/>
                </a:solidFill>
              </a:rPr>
              <a:t>來</a:t>
            </a:r>
            <a:r>
              <a:rPr sz="1150" dirty="0" err="1" smtClean="0">
                <a:solidFill>
                  <a:srgbClr val="657386"/>
                </a:solidFill>
                <a:latin typeface="Noto Sans CJK TC"/>
              </a:rPr>
              <a:t>反覆生成</a:t>
            </a:r>
            <a:r>
              <a:rPr sz="1150" dirty="0" err="1">
                <a:solidFill>
                  <a:srgbClr val="657386"/>
                </a:solidFill>
                <a:latin typeface="Noto Sans CJK TC"/>
              </a:rPr>
              <a:t>、驗證與修正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Artifact</a:t>
            </a:r>
          </a:p>
        </p:txBody>
      </p:sp>
      <p:sp>
        <p:nvSpPr>
          <p:cNvPr id="373" name="Shape 2"/>
          <p:cNvSpPr/>
          <p:nvPr/>
        </p:nvSpPr>
        <p:spPr>
          <a:xfrm>
            <a:off x="594360" y="2148840"/>
            <a:ext cx="182844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4B7BEC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3"/>
          <p:cNvSpPr/>
          <p:nvPr/>
        </p:nvSpPr>
        <p:spPr>
          <a:xfrm>
            <a:off x="685800" y="2350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Skill / Prompt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4"/>
          <p:cNvSpPr/>
          <p:nvPr/>
        </p:nvSpPr>
        <p:spPr>
          <a:xfrm>
            <a:off x="685800" y="26791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How to do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5"/>
          <p:cNvSpPr/>
          <p:nvPr/>
        </p:nvSpPr>
        <p:spPr>
          <a:xfrm>
            <a:off x="2468880" y="2606040"/>
            <a:ext cx="274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6"/>
          <p:cNvSpPr/>
          <p:nvPr/>
        </p:nvSpPr>
        <p:spPr>
          <a:xfrm>
            <a:off x="2834640" y="2148840"/>
            <a:ext cx="182844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39C58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7"/>
          <p:cNvSpPr/>
          <p:nvPr/>
        </p:nvSpPr>
        <p:spPr>
          <a:xfrm>
            <a:off x="2926080" y="2350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Generate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"/>
          <p:cNvSpPr/>
          <p:nvPr/>
        </p:nvSpPr>
        <p:spPr>
          <a:xfrm>
            <a:off x="2926080" y="26791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Artifact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9"/>
          <p:cNvSpPr/>
          <p:nvPr/>
        </p:nvSpPr>
        <p:spPr>
          <a:xfrm>
            <a:off x="4709160" y="2606040"/>
            <a:ext cx="274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0"/>
          <p:cNvSpPr/>
          <p:nvPr/>
        </p:nvSpPr>
        <p:spPr>
          <a:xfrm>
            <a:off x="5074920" y="2148840"/>
            <a:ext cx="182844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2A65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5166360" y="2350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Evaluate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2"/>
          <p:cNvSpPr/>
          <p:nvPr/>
        </p:nvSpPr>
        <p:spPr>
          <a:xfrm>
            <a:off x="5166360" y="26791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Reward-like Signal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3"/>
          <p:cNvSpPr/>
          <p:nvPr/>
        </p:nvSpPr>
        <p:spPr>
          <a:xfrm>
            <a:off x="6949440" y="2606040"/>
            <a:ext cx="274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4"/>
          <p:cNvSpPr/>
          <p:nvPr/>
        </p:nvSpPr>
        <p:spPr>
          <a:xfrm>
            <a:off x="7315200" y="2148840"/>
            <a:ext cx="182844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85D75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5"/>
          <p:cNvSpPr/>
          <p:nvPr/>
        </p:nvSpPr>
        <p:spPr>
          <a:xfrm>
            <a:off x="7406640" y="2350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Feedback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6"/>
          <p:cNvSpPr/>
          <p:nvPr/>
        </p:nvSpPr>
        <p:spPr>
          <a:xfrm>
            <a:off x="7406640" y="26791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Gap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7"/>
          <p:cNvSpPr/>
          <p:nvPr/>
        </p:nvSpPr>
        <p:spPr>
          <a:xfrm>
            <a:off x="9189720" y="2606040"/>
            <a:ext cx="274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8"/>
          <p:cNvSpPr/>
          <p:nvPr/>
        </p:nvSpPr>
        <p:spPr>
          <a:xfrm>
            <a:off x="9555480" y="2148840"/>
            <a:ext cx="182844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7D5CC6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9"/>
          <p:cNvSpPr/>
          <p:nvPr/>
        </p:nvSpPr>
        <p:spPr>
          <a:xfrm>
            <a:off x="9646920" y="235008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7D5CC6"/>
                </a:solidFill>
                <a:effectLst/>
                <a:uFillTx/>
                <a:latin typeface="Noto Sans CJK TC"/>
              </a:rPr>
              <a:t>Repair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0"/>
          <p:cNvSpPr/>
          <p:nvPr/>
        </p:nvSpPr>
        <p:spPr>
          <a:xfrm>
            <a:off x="9646920" y="2679120"/>
            <a:ext cx="16455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Improve Artifact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1"/>
          <p:cNvSpPr/>
          <p:nvPr/>
        </p:nvSpPr>
        <p:spPr>
          <a:xfrm flipH="1">
            <a:off x="1691640" y="3429000"/>
            <a:ext cx="7955280" cy="360"/>
          </a:xfrm>
          <a:prstGeom prst="line">
            <a:avLst/>
          </a:prstGeom>
          <a:ln w="20320">
            <a:solidFill>
              <a:srgbClr val="E85D75"/>
            </a:solidFill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2"/>
          <p:cNvSpPr/>
          <p:nvPr/>
        </p:nvSpPr>
        <p:spPr>
          <a:xfrm>
            <a:off x="4754880" y="35478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FAIL → </a:t>
            </a:r>
            <a:r>
              <a:rPr lang="zh-CN" sz="115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回到下一輪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3"/>
          <p:cNvSpPr/>
          <p:nvPr/>
        </p:nvSpPr>
        <p:spPr>
          <a:xfrm>
            <a:off x="3108960" y="4709160"/>
            <a:ext cx="5897520" cy="840960"/>
          </a:xfrm>
          <a:prstGeom prst="roundRect">
            <a:avLst>
              <a:gd name="adj" fmla="val 6522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4"/>
          <p:cNvSpPr/>
          <p:nvPr/>
        </p:nvSpPr>
        <p:spPr>
          <a:xfrm>
            <a:off x="3383280" y="5001840"/>
            <a:ext cx="5348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dirty="0"/>
              <a:t>RL </a:t>
            </a:r>
            <a:r>
              <a:rPr dirty="0" err="1"/>
              <a:t>反覆改善</a:t>
            </a:r>
            <a:r>
              <a:rPr dirty="0"/>
              <a:t> </a:t>
            </a:r>
            <a:r>
              <a:rPr dirty="0" err="1"/>
              <a:t>Model；Workflow</a:t>
            </a:r>
            <a:r>
              <a:rPr dirty="0"/>
              <a:t> </a:t>
            </a:r>
            <a:r>
              <a:rPr dirty="0" err="1"/>
              <a:t>反覆改善</a:t>
            </a:r>
            <a:r>
              <a:rPr dirty="0"/>
              <a:t> </a:t>
            </a:r>
            <a:r>
              <a:rPr dirty="0" smtClean="0"/>
              <a:t>Artifact</a:t>
            </a:r>
            <a:endParaRPr dirty="0"/>
          </a:p>
        </p:txBody>
      </p:sp>
      <p:sp>
        <p:nvSpPr>
          <p:cNvPr id="396" name="Shape 25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6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把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AI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當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Proposal Generator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，把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Validator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當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Objective Function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sldNum" idx="17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C5BB91-3F34-4E32-8F97-E23B63BCC4FD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10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Completion Condition </a:t>
            </a:r>
            <a:r>
              <a:rPr lang="zh-CN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是 </a:t>
            </a: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3 </a:t>
            </a:r>
            <a:r>
              <a:rPr lang="zh-CN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的核心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Agent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不能因為「自己覺得完成」就停止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"/>
          <p:cNvSpPr/>
          <p:nvPr/>
        </p:nvSpPr>
        <p:spPr>
          <a:xfrm>
            <a:off x="777240" y="1508760"/>
            <a:ext cx="3748680" cy="3474360"/>
          </a:xfrm>
          <a:prstGeom prst="roundRect">
            <a:avLst>
              <a:gd name="adj" fmla="val 1842"/>
            </a:avLst>
          </a:prstGeom>
          <a:solidFill>
            <a:srgbClr val="FDECEF"/>
          </a:solidFill>
          <a:ln w="12700">
            <a:solidFill>
              <a:srgbClr val="FDEC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"/>
          <p:cNvSpPr/>
          <p:nvPr/>
        </p:nvSpPr>
        <p:spPr>
          <a:xfrm>
            <a:off x="1051560" y="18745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Agent </a:t>
            </a:r>
            <a:r>
              <a:rPr lang="zh-CN" sz="17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自我判斷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1051560" y="25146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0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「我覺得差不多完成了」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5"/>
          <p:cNvSpPr/>
          <p:nvPr/>
        </p:nvSpPr>
        <p:spPr>
          <a:xfrm>
            <a:off x="2103120" y="3246120"/>
            <a:ext cx="914040" cy="731160"/>
          </a:xfrm>
          <a:prstGeom prst="chevron">
            <a:avLst>
              <a:gd name="adj" fmla="val 50000"/>
            </a:avLst>
          </a:prstGeom>
          <a:solidFill>
            <a:srgbClr val="E85D75"/>
          </a:solidFill>
          <a:ln w="12700">
            <a:solidFill>
              <a:srgbClr val="E85D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1691640" y="40690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STOP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7"/>
          <p:cNvSpPr/>
          <p:nvPr/>
        </p:nvSpPr>
        <p:spPr>
          <a:xfrm>
            <a:off x="1051560" y="46177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風險：模型自我滿足、漏項仍停止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8"/>
          <p:cNvSpPr/>
          <p:nvPr/>
        </p:nvSpPr>
        <p:spPr>
          <a:xfrm>
            <a:off x="5074920" y="1508760"/>
            <a:ext cx="6464520" cy="3474360"/>
          </a:xfrm>
          <a:prstGeom prst="roundRect">
            <a:avLst>
              <a:gd name="adj" fmla="val 1842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9"/>
          <p:cNvSpPr/>
          <p:nvPr/>
        </p:nvSpPr>
        <p:spPr>
          <a:xfrm>
            <a:off x="5394960" y="18745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39C58A"/>
                </a:solidFill>
                <a:effectLst/>
                <a:uFillTx/>
                <a:latin typeface="Noto Sans CJK TC"/>
              </a:rPr>
              <a:t>Workflow Completion Condition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5440680" y="2560320"/>
            <a:ext cx="95976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4B7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5486400" y="27615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Generate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2"/>
          <p:cNvSpPr/>
          <p:nvPr/>
        </p:nvSpPr>
        <p:spPr>
          <a:xfrm>
            <a:off x="6428160" y="2880360"/>
            <a:ext cx="246960" cy="360"/>
          </a:xfrm>
          <a:prstGeom prst="line">
            <a:avLst/>
          </a:prstGeom>
          <a:ln w="1524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6675120" y="2560320"/>
            <a:ext cx="95976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4"/>
          <p:cNvSpPr/>
          <p:nvPr/>
        </p:nvSpPr>
        <p:spPr>
          <a:xfrm>
            <a:off x="6720840" y="27615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Review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7662600" y="2880360"/>
            <a:ext cx="246960" cy="360"/>
          </a:xfrm>
          <a:prstGeom prst="line">
            <a:avLst/>
          </a:prstGeom>
          <a:ln w="1524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6"/>
          <p:cNvSpPr/>
          <p:nvPr/>
        </p:nvSpPr>
        <p:spPr>
          <a:xfrm>
            <a:off x="7909560" y="2560320"/>
            <a:ext cx="95976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7"/>
          <p:cNvSpPr/>
          <p:nvPr/>
        </p:nvSpPr>
        <p:spPr>
          <a:xfrm>
            <a:off x="7955280" y="27615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Run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>
            <a:off x="8897040" y="2880360"/>
            <a:ext cx="246960" cy="360"/>
          </a:xfrm>
          <a:prstGeom prst="line">
            <a:avLst/>
          </a:prstGeom>
          <a:ln w="1524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9"/>
          <p:cNvSpPr/>
          <p:nvPr/>
        </p:nvSpPr>
        <p:spPr>
          <a:xfrm>
            <a:off x="9144000" y="2560320"/>
            <a:ext cx="95976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7D5CC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9189720" y="27615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200" b="1"/>
              <a:t>Verify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1"/>
          <p:cNvSpPr/>
          <p:nvPr/>
        </p:nvSpPr>
        <p:spPr>
          <a:xfrm>
            <a:off x="10131480" y="2880360"/>
            <a:ext cx="246960" cy="360"/>
          </a:xfrm>
          <a:prstGeom prst="line">
            <a:avLst/>
          </a:prstGeom>
          <a:ln w="1524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2"/>
          <p:cNvSpPr/>
          <p:nvPr/>
        </p:nvSpPr>
        <p:spPr>
          <a:xfrm>
            <a:off x="10378440" y="2560320"/>
            <a:ext cx="959760" cy="65808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720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23"/>
          <p:cNvSpPr/>
          <p:nvPr/>
        </p:nvSpPr>
        <p:spPr>
          <a:xfrm>
            <a:off x="10424160" y="2761560"/>
            <a:ext cx="86832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Final Validation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4"/>
          <p:cNvSpPr/>
          <p:nvPr/>
        </p:nvSpPr>
        <p:spPr>
          <a:xfrm>
            <a:off x="6583680" y="3703320"/>
            <a:ext cx="3291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PASS </a:t>
            </a:r>
            <a:r>
              <a:rPr lang="zh-CN" sz="2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才能 </a:t>
            </a:r>
            <a:r>
              <a:rPr lang="en-US" sz="2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STOP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5"/>
          <p:cNvSpPr/>
          <p:nvPr/>
        </p:nvSpPr>
        <p:spPr>
          <a:xfrm>
            <a:off x="5897880" y="43250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FAIL → Feedback → Repair / Retry → </a:t>
            </a:r>
            <a:r>
              <a:rPr lang="zh-CN" sz="120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再驗證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6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真正的控制力來自「硬性停止條件」，而不是再多寫一段 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Prompt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sldNum" idx="14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C431A5C-5E3B-4B92-AEE4-3A11D2C11F5E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Stage 3 — Workflow SOP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讓 </a:t>
            </a:r>
            <a:r>
              <a:rPr lang="en-US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AI </a:t>
            </a:r>
            <a:r>
              <a:rPr lang="zh-CN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依照</a:t>
            </a:r>
            <a:r>
              <a:rPr lang="zh-CN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固定</a:t>
            </a:r>
            <a:r>
              <a:rPr lang="zh-TW" altLang="en-US" sz="1150" dirty="0">
                <a:solidFill>
                  <a:srgbClr val="657386"/>
                </a:solidFill>
                <a:latin typeface="Noto Sans CJK TC"/>
              </a:rPr>
              <a:t>長</a:t>
            </a:r>
            <a:r>
              <a:rPr lang="zh-CN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流程</a:t>
            </a:r>
            <a:r>
              <a:rPr lang="zh-CN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執行，而不是靠人工一直對話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32004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4B7BEC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39312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Generate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1463040" y="2532600"/>
            <a:ext cx="26496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172836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E85D75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180144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Grill-AI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2871000" y="2532600"/>
            <a:ext cx="265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313632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F2A65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320940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Review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4279320" y="2532600"/>
            <a:ext cx="26496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454464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39C58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461772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Run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687280" y="2532600"/>
            <a:ext cx="265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595260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7D5CC6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602604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1"/>
              <a:t>Verify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7095600" y="2532600"/>
            <a:ext cx="265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736092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A9D8F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743400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A9D8F"/>
                </a:solidFill>
                <a:effectLst/>
                <a:uFillTx/>
                <a:latin typeface="Noto Sans CJK TC"/>
              </a:rPr>
              <a:t>Repair /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A9D8F"/>
                </a:solidFill>
                <a:effectLst/>
                <a:uFillTx/>
                <a:latin typeface="Noto Sans CJK TC"/>
              </a:rPr>
              <a:t>Retry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8503920" y="2532600"/>
            <a:ext cx="26496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8769240" y="2057400"/>
            <a:ext cx="112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172033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8842320" y="2359080"/>
            <a:ext cx="9781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Final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Validation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9911880" y="2532600"/>
            <a:ext cx="265320" cy="36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10177200" y="2057400"/>
            <a:ext cx="959760" cy="959760"/>
          </a:xfrm>
          <a:prstGeom prst="roundRect">
            <a:avLst>
              <a:gd name="adj" fmla="val 5714"/>
            </a:avLst>
          </a:prstGeom>
          <a:solidFill>
            <a:srgbClr val="E8F8F1"/>
          </a:solidFill>
          <a:ln w="1524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4"/>
          <p:cNvSpPr/>
          <p:nvPr/>
        </p:nvSpPr>
        <p:spPr>
          <a:xfrm>
            <a:off x="10250280" y="2359080"/>
            <a:ext cx="8136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PASS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5"/>
          <p:cNvSpPr/>
          <p:nvPr/>
        </p:nvSpPr>
        <p:spPr>
          <a:xfrm>
            <a:off x="685800" y="3703320"/>
            <a:ext cx="333720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6"/>
          <p:cNvSpPr/>
          <p:nvPr/>
        </p:nvSpPr>
        <p:spPr>
          <a:xfrm>
            <a:off x="685800" y="3703320"/>
            <a:ext cx="54360" cy="1325520"/>
          </a:xfrm>
          <a:prstGeom prst="rect">
            <a:avLst/>
          </a:prstGeom>
          <a:solidFill>
            <a:srgbClr val="4B7BEC"/>
          </a:solidFill>
          <a:ln w="12700">
            <a:solidFill>
              <a:srgbClr val="4B7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887040" y="3931920"/>
            <a:ext cx="420120" cy="420120"/>
          </a:xfrm>
          <a:prstGeom prst="ellipse">
            <a:avLst/>
          </a:prstGeom>
          <a:solidFill>
            <a:srgbClr val="4B7BEC">
              <a:alpha val="12000"/>
            </a:srgbClr>
          </a:solidFill>
          <a:ln w="12700">
            <a:solidFill>
              <a:srgbClr val="4B7BE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8"/>
          <p:cNvSpPr/>
          <p:nvPr/>
        </p:nvSpPr>
        <p:spPr>
          <a:xfrm>
            <a:off x="887040" y="3931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1435680" y="3904560"/>
            <a:ext cx="2368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Reliability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1435680" y="4361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Retry / Recovery / Resume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Session / Durable State / API Error Handling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4434840" y="3703320"/>
            <a:ext cx="333720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4434840" y="3703320"/>
            <a:ext cx="54360" cy="13255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4636080" y="3931920"/>
            <a:ext cx="420120" cy="420120"/>
          </a:xfrm>
          <a:prstGeom prst="ellipse">
            <a:avLst/>
          </a:prstGeom>
          <a:solidFill>
            <a:srgbClr val="F2A65A">
              <a:alpha val="12000"/>
            </a:srgbClr>
          </a:solidFill>
          <a:ln w="12700">
            <a:solidFill>
              <a:srgbClr val="F2A6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4"/>
          <p:cNvSpPr/>
          <p:nvPr/>
        </p:nvSpPr>
        <p:spPr>
          <a:xfrm>
            <a:off x="4636080" y="3931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5"/>
          <p:cNvSpPr/>
          <p:nvPr/>
        </p:nvSpPr>
        <p:spPr>
          <a:xfrm>
            <a:off x="5184720" y="3904560"/>
            <a:ext cx="2368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Quality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5184720" y="4361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sz="1050" dirty="0">
                <a:solidFill>
                  <a:srgbClr val="657386"/>
                </a:solidFill>
                <a:latin typeface="Noto Sans CJK TC"/>
              </a:rPr>
              <a:t>Grill / Review / Verify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050" dirty="0">
                <a:solidFill>
                  <a:srgbClr val="657386"/>
                </a:solidFill>
                <a:latin typeface="Noto Sans CJK TC"/>
              </a:rPr>
            </a:br>
            <a:r>
              <a:rPr sz="1050" dirty="0">
                <a:solidFill>
                  <a:srgbClr val="657386"/>
                </a:solidFill>
                <a:latin typeface="Noto Sans CJK TC"/>
              </a:rPr>
              <a:t>Final Validation / Execution Feedback</a:t>
            </a:r>
            <a:endParaRPr lang="en-US" sz="105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272" name="Shape 37"/>
          <p:cNvSpPr/>
          <p:nvPr/>
        </p:nvSpPr>
        <p:spPr>
          <a:xfrm>
            <a:off x="8183880" y="3703320"/>
            <a:ext cx="3337200" cy="132552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8"/>
          <p:cNvSpPr/>
          <p:nvPr/>
        </p:nvSpPr>
        <p:spPr>
          <a:xfrm>
            <a:off x="8183880" y="3703320"/>
            <a:ext cx="54360" cy="132552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9"/>
          <p:cNvSpPr/>
          <p:nvPr/>
        </p:nvSpPr>
        <p:spPr>
          <a:xfrm>
            <a:off x="8385120" y="3931920"/>
            <a:ext cx="420120" cy="420120"/>
          </a:xfrm>
          <a:prstGeom prst="ellipse">
            <a:avLst/>
          </a:prstGeom>
          <a:solidFill>
            <a:srgbClr val="39C58A">
              <a:alpha val="12000"/>
            </a:srgbClr>
          </a:solidFill>
          <a:ln w="12700">
            <a:solidFill>
              <a:srgbClr val="39C5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0"/>
          <p:cNvSpPr/>
          <p:nvPr/>
        </p:nvSpPr>
        <p:spPr>
          <a:xfrm>
            <a:off x="8385120" y="3931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1"/>
          <p:cNvSpPr/>
          <p:nvPr/>
        </p:nvSpPr>
        <p:spPr>
          <a:xfrm>
            <a:off x="8933760" y="3904560"/>
            <a:ext cx="2368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Automation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42"/>
          <p:cNvSpPr/>
          <p:nvPr/>
        </p:nvSpPr>
        <p:spPr>
          <a:xfrm>
            <a:off x="8933760" y="43617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不需要人工一直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Continue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；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FAIL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後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Workflow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自動決定下一步。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43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4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300" b="1"/>
              <a:t>Workflow = Process Control + Quality Gates + Fault Tolerance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sldNum" idx="12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6DDC22-EEBD-4A77-A339-5BA0A9B5836E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Quality</a:t>
            </a:r>
            <a:r>
              <a:rPr lang="zh-CN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：不保證 </a:t>
            </a: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100%</a:t>
            </a:r>
            <a:r>
              <a:rPr lang="zh-CN" sz="2600" b="1" u="none" strike="noStrike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，但持續提高可信度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多層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Verification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，避免只靠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AI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自己說自己做對了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822960" y="1417320"/>
            <a:ext cx="10606680" cy="749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5EA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1051560" y="1581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Grill-AI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3017520" y="1591200"/>
            <a:ext cx="959760" cy="310680"/>
          </a:xfrm>
          <a:prstGeom prst="roundRect">
            <a:avLst>
              <a:gd name="adj" fmla="val 23529"/>
            </a:avLst>
          </a:prstGeom>
          <a:solidFill>
            <a:srgbClr val="FDECEF"/>
          </a:solidFill>
          <a:ln w="12700">
            <a:solidFill>
              <a:srgbClr val="FDECE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3090600" y="1636920"/>
            <a:ext cx="813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Challenge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4297680" y="158184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主動找缺漏、不合理假設、只測 </a:t>
            </a:r>
            <a:r>
              <a:rPr lang="en-US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Happy Path </a:t>
            </a:r>
            <a:r>
              <a:rPr lang="zh-CN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等問題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7"/>
          <p:cNvSpPr/>
          <p:nvPr/>
        </p:nvSpPr>
        <p:spPr>
          <a:xfrm>
            <a:off x="822960" y="2267640"/>
            <a:ext cx="10606680" cy="749520"/>
          </a:xfrm>
          <a:prstGeom prst="roundRect">
            <a:avLst>
              <a:gd name="adj" fmla="val 6098"/>
            </a:avLst>
          </a:prstGeom>
          <a:solidFill>
            <a:srgbClr val="F1F4F7"/>
          </a:solidFill>
          <a:ln w="10160">
            <a:solidFill>
              <a:srgbClr val="E5EA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8"/>
          <p:cNvSpPr/>
          <p:nvPr/>
        </p:nvSpPr>
        <p:spPr>
          <a:xfrm>
            <a:off x="1051560" y="2432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Review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9"/>
          <p:cNvSpPr/>
          <p:nvPr/>
        </p:nvSpPr>
        <p:spPr>
          <a:xfrm>
            <a:off x="3017520" y="2441520"/>
            <a:ext cx="959760" cy="310680"/>
          </a:xfrm>
          <a:prstGeom prst="roundRect">
            <a:avLst>
              <a:gd name="adj" fmla="val 23529"/>
            </a:avLst>
          </a:prstGeom>
          <a:solidFill>
            <a:srgbClr val="FFF4E9"/>
          </a:solidFill>
          <a:ln w="12700">
            <a:solidFill>
              <a:srgbClr val="FFF4E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0"/>
          <p:cNvSpPr/>
          <p:nvPr/>
        </p:nvSpPr>
        <p:spPr>
          <a:xfrm>
            <a:off x="3090600" y="2487240"/>
            <a:ext cx="813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Check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1"/>
          <p:cNvSpPr/>
          <p:nvPr/>
        </p:nvSpPr>
        <p:spPr>
          <a:xfrm>
            <a:off x="4297680" y="243216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確認是否符合 </a:t>
            </a:r>
            <a:r>
              <a:rPr lang="en-US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Requirement / Rule / Skill </a:t>
            </a:r>
            <a:r>
              <a:rPr lang="zh-CN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目標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2"/>
          <p:cNvSpPr/>
          <p:nvPr/>
        </p:nvSpPr>
        <p:spPr>
          <a:xfrm>
            <a:off x="822960" y="3117960"/>
            <a:ext cx="10606680" cy="749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5EA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1051560" y="328284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Framework Run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14"/>
          <p:cNvSpPr/>
          <p:nvPr/>
        </p:nvSpPr>
        <p:spPr>
          <a:xfrm>
            <a:off x="3017520" y="3291840"/>
            <a:ext cx="959760" cy="310680"/>
          </a:xfrm>
          <a:prstGeom prst="roundRect">
            <a:avLst>
              <a:gd name="adj" fmla="val 23529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5"/>
          <p:cNvSpPr/>
          <p:nvPr/>
        </p:nvSpPr>
        <p:spPr>
          <a:xfrm>
            <a:off x="3090600" y="3337560"/>
            <a:ext cx="813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Execute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6"/>
          <p:cNvSpPr/>
          <p:nvPr/>
        </p:nvSpPr>
        <p:spPr>
          <a:xfrm>
            <a:off x="4297680" y="328284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 </a:t>
            </a:r>
            <a:r>
              <a:rPr lang="zh-CN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必須真的可執行，不只看 </a:t>
            </a:r>
            <a:r>
              <a:rPr lang="en-US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Code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7"/>
          <p:cNvSpPr/>
          <p:nvPr/>
        </p:nvSpPr>
        <p:spPr>
          <a:xfrm>
            <a:off x="822960" y="3968640"/>
            <a:ext cx="10606680" cy="749520"/>
          </a:xfrm>
          <a:prstGeom prst="roundRect">
            <a:avLst>
              <a:gd name="adj" fmla="val 6098"/>
            </a:avLst>
          </a:prstGeom>
          <a:solidFill>
            <a:srgbClr val="F1F4F7"/>
          </a:solidFill>
          <a:ln w="10160">
            <a:solidFill>
              <a:srgbClr val="E5EA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8"/>
          <p:cNvSpPr/>
          <p:nvPr/>
        </p:nvSpPr>
        <p:spPr>
          <a:xfrm>
            <a:off x="1051560" y="41331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300" b="1"/>
              <a:t>Independent Check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9"/>
          <p:cNvSpPr/>
          <p:nvPr/>
        </p:nvSpPr>
        <p:spPr>
          <a:xfrm>
            <a:off x="3017520" y="4142160"/>
            <a:ext cx="959760" cy="310680"/>
          </a:xfrm>
          <a:prstGeom prst="roundRect">
            <a:avLst>
              <a:gd name="adj" fmla="val 23529"/>
            </a:avLst>
          </a:prstGeom>
          <a:solidFill>
            <a:srgbClr val="F0EDF8"/>
          </a:solidFill>
          <a:ln w="12700">
            <a:solidFill>
              <a:srgbClr val="F0E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0"/>
          <p:cNvSpPr/>
          <p:nvPr/>
        </p:nvSpPr>
        <p:spPr>
          <a:xfrm>
            <a:off x="3090600" y="4187880"/>
            <a:ext cx="813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000" b="1"/>
              <a:t>Cross-check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1"/>
          <p:cNvSpPr/>
          <p:nvPr/>
        </p:nvSpPr>
        <p:spPr>
          <a:xfrm>
            <a:off x="4297680" y="413316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200"/>
              <a:t>用 Source Code / E2E Sample / Rule 等獨立訊號交叉檢查產出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2"/>
          <p:cNvSpPr/>
          <p:nvPr/>
        </p:nvSpPr>
        <p:spPr>
          <a:xfrm>
            <a:off x="822960" y="4818960"/>
            <a:ext cx="10606680" cy="74952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0160">
            <a:solidFill>
              <a:srgbClr val="E5EA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3"/>
          <p:cNvSpPr/>
          <p:nvPr/>
        </p:nvSpPr>
        <p:spPr>
          <a:xfrm>
            <a:off x="1051560" y="49834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Final Validation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24"/>
          <p:cNvSpPr/>
          <p:nvPr/>
        </p:nvSpPr>
        <p:spPr>
          <a:xfrm>
            <a:off x="3017520" y="4992480"/>
            <a:ext cx="959760" cy="310680"/>
          </a:xfrm>
          <a:prstGeom prst="roundRect">
            <a:avLst>
              <a:gd name="adj" fmla="val 23529"/>
            </a:avLst>
          </a:prstGeom>
          <a:solidFill>
            <a:srgbClr val="EAEFF5"/>
          </a:solidFill>
          <a:ln w="12700">
            <a:solidFill>
              <a:srgbClr val="EAEFF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5"/>
          <p:cNvSpPr/>
          <p:nvPr/>
        </p:nvSpPr>
        <p:spPr>
          <a:xfrm>
            <a:off x="3090600" y="5038200"/>
            <a:ext cx="813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Gate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6"/>
          <p:cNvSpPr/>
          <p:nvPr/>
        </p:nvSpPr>
        <p:spPr>
          <a:xfrm>
            <a:off x="4297680" y="4983480"/>
            <a:ext cx="6674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最後用獨立驗證確認 </a:t>
            </a:r>
            <a:r>
              <a:rPr lang="en-US" sz="1120" b="0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Completion Condition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7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8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200" b="1"/>
              <a:t>目前以 Grill / Review / Execution / Independent Check / Final Validation 提升可信度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sldNum" idx="1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45DF59A-AACA-4938-B2F6-B52A310FEFE4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2600" b="1"/>
              <a:t>品質驗證：目前能力與未來補強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sz="1150" dirty="0" err="1">
                <a:solidFill>
                  <a:srgbClr val="657386"/>
                </a:solidFill>
                <a:latin typeface="Noto Sans CJK TC"/>
              </a:rPr>
              <a:t>主軸先用現有可驗證訊號；Code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/ Branch Coverage </a:t>
            </a:r>
            <a:r>
              <a:rPr sz="1150" dirty="0" err="1">
                <a:solidFill>
                  <a:srgbClr val="657386"/>
                </a:solidFill>
                <a:latin typeface="Noto Sans CJK TC"/>
              </a:rPr>
              <a:t>作為未來補強考量</a:t>
            </a:r>
            <a:endParaRPr lang="en-US" sz="115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749880" y="1508760"/>
            <a:ext cx="4708800" cy="3611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1024200" y="18288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600" b="1" dirty="0" err="1"/>
              <a:t>目前</a:t>
            </a:r>
            <a:r>
              <a:rPr sz="1600" b="1" dirty="0" smtClean="0"/>
              <a:t>： </a:t>
            </a:r>
            <a:r>
              <a:rPr sz="1600" b="1" dirty="0"/>
              <a:t>Verification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1024200" y="23774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sz="1400" dirty="0">
                <a:solidFill>
                  <a:srgbClr val="657386"/>
                </a:solidFill>
                <a:latin typeface="Noto Sans CJK TC"/>
              </a:rPr>
              <a:t>AI </a:t>
            </a:r>
            <a:r>
              <a:rPr sz="1400" dirty="0" err="1">
                <a:solidFill>
                  <a:srgbClr val="657386"/>
                </a:solidFill>
                <a:latin typeface="Noto Sans CJK TC"/>
              </a:rPr>
              <a:t>產出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 → Grill / Review → Framework Run → Final Validation</a:t>
            </a:r>
            <a:endParaRPr lang="en-US" sz="140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1025583" y="2873899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2000" b="1" dirty="0" err="1"/>
              <a:t>不宣稱</a:t>
            </a:r>
            <a:r>
              <a:rPr sz="2000" b="1" dirty="0"/>
              <a:t> 100% </a:t>
            </a:r>
            <a:r>
              <a:rPr sz="2000" b="1" dirty="0" err="1" smtClean="0"/>
              <a:t>保證</a:t>
            </a:r>
            <a:r>
              <a:rPr lang="zh-TW" altLang="en-US" sz="2000" b="1" dirty="0" smtClean="0"/>
              <a:t>產生正確結果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1024200" y="3611880"/>
            <a:ext cx="384012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sz="1400" dirty="0" err="1">
                <a:solidFill>
                  <a:srgbClr val="657386"/>
                </a:solidFill>
                <a:latin typeface="Noto Sans CJK TC"/>
              </a:rPr>
              <a:t>但可透過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：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Source Code / Flow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Existing E2E Sample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API Contract / DB DDL / </a:t>
            </a:r>
            <a:r>
              <a:rPr sz="1400" dirty="0" err="1">
                <a:solidFill>
                  <a:srgbClr val="657386"/>
                </a:solidFill>
                <a:latin typeface="Noto Sans CJK TC"/>
              </a:rPr>
              <a:t>Config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Historical Bug / Incident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 err="1">
                <a:solidFill>
                  <a:srgbClr val="657386"/>
                </a:solidFill>
                <a:latin typeface="Noto Sans CJK TC"/>
              </a:rPr>
              <a:t>持續找出重要缺口</a:t>
            </a:r>
            <a:endParaRPr lang="en-US" sz="140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364" name="Shape 7"/>
          <p:cNvSpPr/>
          <p:nvPr/>
        </p:nvSpPr>
        <p:spPr>
          <a:xfrm>
            <a:off x="5852160" y="1508760"/>
            <a:ext cx="5440320" cy="3611520"/>
          </a:xfrm>
          <a:prstGeom prst="roundRect">
            <a:avLst>
              <a:gd name="adj" fmla="val 1772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8"/>
          <p:cNvSpPr/>
          <p:nvPr/>
        </p:nvSpPr>
        <p:spPr>
          <a:xfrm>
            <a:off x="6172200" y="182880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600" b="1"/>
              <a:t>Future Consideration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9"/>
          <p:cNvSpPr/>
          <p:nvPr/>
        </p:nvSpPr>
        <p:spPr>
          <a:xfrm>
            <a:off x="6172200" y="23317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sz="1400" dirty="0">
                <a:solidFill>
                  <a:srgbClr val="657386"/>
                </a:solidFill>
                <a:latin typeface="Noto Sans CJK TC"/>
              </a:rPr>
              <a:t>Coverage </a:t>
            </a:r>
            <a:r>
              <a:rPr sz="1400" dirty="0" err="1">
                <a:solidFill>
                  <a:srgbClr val="657386"/>
                </a:solidFill>
                <a:latin typeface="Noto Sans CJK TC"/>
              </a:rPr>
              <a:t>可作為額外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 Quality </a:t>
            </a:r>
            <a:r>
              <a:rPr sz="1400" dirty="0" err="1">
                <a:solidFill>
                  <a:srgbClr val="657386"/>
                </a:solidFill>
                <a:latin typeface="Noto Sans CJK TC"/>
              </a:rPr>
              <a:t>Signal，但不是目前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 Framework </a:t>
            </a:r>
            <a:r>
              <a:rPr sz="1400" dirty="0" err="1">
                <a:solidFill>
                  <a:srgbClr val="657386"/>
                </a:solidFill>
                <a:latin typeface="Noto Sans CJK TC"/>
              </a:rPr>
              <a:t>的既有能力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。</a:t>
            </a:r>
            <a:endParaRPr lang="en-US" sz="140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6172200" y="3089795"/>
            <a:ext cx="45716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sz="1400" dirty="0" err="1">
                <a:solidFill>
                  <a:srgbClr val="657386"/>
                </a:solidFill>
                <a:latin typeface="Noto Sans CJK TC"/>
              </a:rPr>
              <a:t>未來可加入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：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Code Coverage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Branch / Flow Coverage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>• Critical Scenario Coverage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>
                <a:solidFill>
                  <a:srgbClr val="657386"/>
                </a:solidFill>
                <a:latin typeface="Noto Sans CJK TC"/>
              </a:rPr>
              <a:t/>
            </a:r>
            <a:br>
              <a:rPr sz="1400" dirty="0">
                <a:solidFill>
                  <a:srgbClr val="657386"/>
                </a:solidFill>
                <a:latin typeface="Noto Sans CJK TC"/>
              </a:rPr>
            </a:br>
            <a:r>
              <a:rPr sz="1400" dirty="0" err="1">
                <a:solidFill>
                  <a:srgbClr val="657386"/>
                </a:solidFill>
                <a:latin typeface="Noto Sans CJK TC"/>
              </a:rPr>
              <a:t>用途：提供更多客觀完整度訊號，而不是宣稱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 Coverage = Regression </a:t>
            </a:r>
            <a:r>
              <a:rPr sz="1400" dirty="0" err="1">
                <a:solidFill>
                  <a:srgbClr val="657386"/>
                </a:solidFill>
                <a:latin typeface="Noto Sans CJK TC"/>
              </a:rPr>
              <a:t>正確</a:t>
            </a:r>
            <a:r>
              <a:rPr sz="1400" dirty="0">
                <a:solidFill>
                  <a:srgbClr val="657386"/>
                </a:solidFill>
                <a:latin typeface="Noto Sans CJK TC"/>
              </a:rPr>
              <a:t>。</a:t>
            </a:r>
            <a:endParaRPr lang="en-US" sz="140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200" b="1" dirty="0" err="1"/>
              <a:t>現階段先以可執行、可交叉驗證、可</a:t>
            </a:r>
            <a:r>
              <a:rPr sz="1200" b="1" dirty="0"/>
              <a:t> Final Validate </a:t>
            </a:r>
            <a:r>
              <a:rPr sz="1200" b="1" dirty="0" err="1"/>
              <a:t>為主；Coverage</a:t>
            </a:r>
            <a:r>
              <a:rPr sz="1200" b="1" dirty="0"/>
              <a:t> </a:t>
            </a:r>
            <a:r>
              <a:rPr sz="1200" b="1" dirty="0" err="1"/>
              <a:t>留作後續增強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sldNum" idx="16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6DFD788-CC67-48C6-B970-F6DB7292AA63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整體演進與未來定位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現在解小模型可靠性，未來仍保留 </a:t>
            </a:r>
            <a:r>
              <a:rPr lang="en-US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SOP / Process Orchestration </a:t>
            </a:r>
            <a:r>
              <a:rPr lang="zh-CN" sz="11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價值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"/>
          <p:cNvSpPr/>
          <p:nvPr/>
        </p:nvSpPr>
        <p:spPr>
          <a:xfrm>
            <a:off x="822960" y="1508760"/>
            <a:ext cx="566892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39C58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3"/>
          <p:cNvSpPr/>
          <p:nvPr/>
        </p:nvSpPr>
        <p:spPr>
          <a:xfrm>
            <a:off x="1097280" y="167328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Stage 1 — Framework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4"/>
          <p:cNvSpPr/>
          <p:nvPr/>
        </p:nvSpPr>
        <p:spPr>
          <a:xfrm>
            <a:off x="3657600" y="16826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7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標準化「怎麼執行 </a:t>
            </a:r>
            <a:r>
              <a:rPr lang="en-US" sz="117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</a:t>
            </a:r>
            <a:r>
              <a:rPr lang="zh-CN" sz="117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」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5"/>
          <p:cNvSpPr/>
          <p:nvPr/>
        </p:nvSpPr>
        <p:spPr>
          <a:xfrm>
            <a:off x="3657600" y="2423160"/>
            <a:ext cx="360" cy="24660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6"/>
          <p:cNvSpPr/>
          <p:nvPr/>
        </p:nvSpPr>
        <p:spPr>
          <a:xfrm>
            <a:off x="822960" y="2743200"/>
            <a:ext cx="566892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4B7BEC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7"/>
          <p:cNvSpPr/>
          <p:nvPr/>
        </p:nvSpPr>
        <p:spPr>
          <a:xfrm>
            <a:off x="1097280" y="29077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Stage 2 — Skills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8"/>
          <p:cNvSpPr/>
          <p:nvPr/>
        </p:nvSpPr>
        <p:spPr>
          <a:xfrm>
            <a:off x="3657600" y="291708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7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標準化「怎麼產生 </a:t>
            </a:r>
            <a:r>
              <a:rPr lang="en-US" sz="117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</a:t>
            </a:r>
            <a:r>
              <a:rPr lang="zh-CN" sz="117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」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9"/>
          <p:cNvSpPr/>
          <p:nvPr/>
        </p:nvSpPr>
        <p:spPr>
          <a:xfrm>
            <a:off x="3657600" y="3657600"/>
            <a:ext cx="360" cy="246600"/>
          </a:xfrm>
          <a:prstGeom prst="line">
            <a:avLst/>
          </a:prstGeom>
          <a:ln w="17780">
            <a:solidFill>
              <a:srgbClr val="B8C2C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0"/>
          <p:cNvSpPr/>
          <p:nvPr/>
        </p:nvSpPr>
        <p:spPr>
          <a:xfrm>
            <a:off x="822960" y="3977640"/>
            <a:ext cx="566892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F2A65A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1"/>
          <p:cNvSpPr/>
          <p:nvPr/>
        </p:nvSpPr>
        <p:spPr>
          <a:xfrm>
            <a:off x="1097280" y="414216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Stage 3 — Workflow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2"/>
          <p:cNvSpPr/>
          <p:nvPr/>
        </p:nvSpPr>
        <p:spPr>
          <a:xfrm>
            <a:off x="3657600" y="41515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7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控制「做到什麼程度才算完成」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3"/>
          <p:cNvSpPr/>
          <p:nvPr/>
        </p:nvSpPr>
        <p:spPr>
          <a:xfrm>
            <a:off x="6995160" y="1508760"/>
            <a:ext cx="4297320" cy="3337200"/>
          </a:xfrm>
          <a:prstGeom prst="roundRect">
            <a:avLst>
              <a:gd name="adj" fmla="val 1918"/>
            </a:avLst>
          </a:prstGeom>
          <a:solidFill>
            <a:srgbClr val="F0F3F7"/>
          </a:solidFill>
          <a:ln w="12700">
            <a:solidFill>
              <a:srgbClr val="F0F3F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4"/>
          <p:cNvSpPr/>
          <p:nvPr/>
        </p:nvSpPr>
        <p:spPr>
          <a:xfrm>
            <a:off x="7269480" y="18288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Future with Larger Models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5"/>
          <p:cNvSpPr/>
          <p:nvPr/>
        </p:nvSpPr>
        <p:spPr>
          <a:xfrm>
            <a:off x="7269480" y="2366925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zh-CN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模型變強後，</a:t>
            </a:r>
            <a:r>
              <a:rPr lang="en-US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Loop / Context / Repair </a:t>
            </a:r>
            <a:r>
              <a:rPr lang="zh-CN" sz="11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問題會下降；但以下價值不會消失：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6"/>
          <p:cNvSpPr/>
          <p:nvPr/>
        </p:nvSpPr>
        <p:spPr>
          <a:xfrm>
            <a:off x="7269480" y="3063240"/>
            <a:ext cx="32000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SOP Enforcement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Process Control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Retry / Recovery / Resume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Traceability / Audit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Completion Condition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API Fault Tolerance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7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8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現在：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Workflow = Small Model Reliability Layer </a:t>
            </a:r>
            <a:r>
              <a:rPr lang="zh-CN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｜ 未來：</a:t>
            </a:r>
            <a:r>
              <a:rPr lang="en-US" sz="10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Workflow = AI SOP / Process Orchestration Layer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sldNum" idx="18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EFC48A-9BD4-42C2-9A9F-96122D05F144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15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zh-TW" sz="2600" b="1" dirty="0">
                <a:solidFill>
                  <a:srgbClr val="172033"/>
                </a:solidFill>
                <a:ea typeface="Noto Sans CJK TC"/>
              </a:rPr>
              <a:t>Prepare Material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OCAP </a:t>
            </a:r>
            <a:r>
              <a:rPr lang="zh-TW" altLang="en-US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為範例</a:t>
            </a:r>
            <a:r>
              <a:rPr lang="en-US" altLang="zh-TW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, </a:t>
            </a:r>
            <a:r>
              <a:rPr lang="zh-TW" altLang="en-US" sz="1150" dirty="0">
                <a:solidFill>
                  <a:srgbClr val="657386"/>
                </a:solidFill>
                <a:latin typeface="Noto Sans CJK TC"/>
              </a:rPr>
              <a:t>需準備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822960" y="14173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 dirty="0" smtClean="0">
                <a:solidFill>
                  <a:srgbClr val="4B7BEC"/>
                </a:solidFill>
                <a:effectLst/>
                <a:uFillTx/>
                <a:latin typeface="Noto Sans CJK TC"/>
              </a:rPr>
              <a:t>輸入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6355080" y="14173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 dirty="0">
                <a:solidFill>
                  <a:srgbClr val="39C58A"/>
                </a:solidFill>
                <a:effectLst/>
                <a:uFillTx/>
                <a:latin typeface="Noto Sans CJK TC"/>
              </a:rPr>
              <a:t>驗證</a:t>
            </a:r>
            <a:r>
              <a:rPr lang="zh-CN" sz="1600" b="1" u="none" strike="noStrike" dirty="0" smtClean="0">
                <a:solidFill>
                  <a:srgbClr val="39C58A"/>
                </a:solidFill>
                <a:effectLst/>
                <a:uFillTx/>
                <a:latin typeface="Noto Sans CJK TC"/>
              </a:rPr>
              <a:t>證據</a:t>
            </a:r>
            <a:r>
              <a:rPr lang="en-US" altLang="zh-CN" sz="1600" b="1" u="none" strike="noStrike" dirty="0" smtClean="0">
                <a:solidFill>
                  <a:srgbClr val="39C58A"/>
                </a:solidFill>
                <a:effectLst/>
                <a:uFillTx/>
                <a:latin typeface="Noto Sans CJK TC"/>
              </a:rPr>
              <a:t>(Option)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822960" y="182880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1051560" y="201168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Source </a:t>
            </a:r>
            <a:r>
              <a:rPr lang="en-US" sz="11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Code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6"/>
          <p:cNvSpPr/>
          <p:nvPr/>
        </p:nvSpPr>
        <p:spPr>
          <a:xfrm>
            <a:off x="822960" y="254196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7"/>
          <p:cNvSpPr/>
          <p:nvPr/>
        </p:nvSpPr>
        <p:spPr>
          <a:xfrm>
            <a:off x="1051560" y="272484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✓  DB Schema / DDL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8"/>
          <p:cNvSpPr/>
          <p:nvPr/>
        </p:nvSpPr>
        <p:spPr>
          <a:xfrm>
            <a:off x="822960" y="325512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9"/>
          <p:cNvSpPr/>
          <p:nvPr/>
        </p:nvSpPr>
        <p:spPr>
          <a:xfrm>
            <a:off x="1051560" y="343800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Existing E2E Sample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0"/>
          <p:cNvSpPr/>
          <p:nvPr/>
        </p:nvSpPr>
        <p:spPr>
          <a:xfrm>
            <a:off x="822960" y="396864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"/>
          <p:cNvSpPr/>
          <p:nvPr/>
        </p:nvSpPr>
        <p:spPr>
          <a:xfrm>
            <a:off x="1051560" y="415152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Requirement / BDD / </a:t>
            </a:r>
            <a:r>
              <a:rPr lang="en-US" sz="11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SPEC</a:t>
            </a:r>
            <a:r>
              <a:rPr lang="zh-TW" altLang="en-US" sz="11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 </a:t>
            </a:r>
            <a:r>
              <a:rPr lang="en-US" altLang="zh-TW" sz="11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(Option)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2"/>
          <p:cNvSpPr/>
          <p:nvPr/>
        </p:nvSpPr>
        <p:spPr>
          <a:xfrm>
            <a:off x="822960" y="468180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3"/>
          <p:cNvSpPr/>
          <p:nvPr/>
        </p:nvSpPr>
        <p:spPr>
          <a:xfrm>
            <a:off x="1051560" y="486468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</a:t>
            </a:r>
            <a:r>
              <a:rPr lang="en-US" sz="1150" b="1" dirty="0">
                <a:solidFill>
                  <a:srgbClr val="243047"/>
                </a:solidFill>
              </a:rPr>
              <a:t>Docker </a:t>
            </a:r>
            <a:r>
              <a:rPr lang="en-US" sz="1150" b="1" dirty="0" smtClean="0">
                <a:solidFill>
                  <a:srgbClr val="243047"/>
                </a:solidFill>
              </a:rPr>
              <a:t>Environment(DB &amp; sandbox) (Option)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4"/>
          <p:cNvSpPr/>
          <p:nvPr/>
        </p:nvSpPr>
        <p:spPr>
          <a:xfrm>
            <a:off x="6355080" y="182880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5"/>
          <p:cNvSpPr/>
          <p:nvPr/>
        </p:nvSpPr>
        <p:spPr>
          <a:xfrm>
            <a:off x="6583680" y="201168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Mock Contract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6"/>
          <p:cNvSpPr/>
          <p:nvPr/>
        </p:nvSpPr>
        <p:spPr>
          <a:xfrm>
            <a:off x="6355080" y="254196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7"/>
          <p:cNvSpPr/>
          <p:nvPr/>
        </p:nvSpPr>
        <p:spPr>
          <a:xfrm>
            <a:off x="6583680" y="272484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DB / API / Log Verification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8"/>
          <p:cNvSpPr/>
          <p:nvPr/>
        </p:nvSpPr>
        <p:spPr>
          <a:xfrm>
            <a:off x="6355080" y="325512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9"/>
          <p:cNvSpPr/>
          <p:nvPr/>
        </p:nvSpPr>
        <p:spPr>
          <a:xfrm>
            <a:off x="6583680" y="343800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Framework Report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20"/>
          <p:cNvSpPr/>
          <p:nvPr/>
        </p:nvSpPr>
        <p:spPr>
          <a:xfrm>
            <a:off x="6355080" y="396864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1"/>
          <p:cNvSpPr/>
          <p:nvPr/>
        </p:nvSpPr>
        <p:spPr>
          <a:xfrm>
            <a:off x="6583680" y="415152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Code Coverage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2"/>
          <p:cNvSpPr/>
          <p:nvPr/>
        </p:nvSpPr>
        <p:spPr>
          <a:xfrm>
            <a:off x="6355080" y="468180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8F8F1"/>
          </a:solidFill>
          <a:ln w="12700">
            <a:solidFill>
              <a:srgbClr val="E8F8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3"/>
          <p:cNvSpPr/>
          <p:nvPr/>
        </p:nvSpPr>
        <p:spPr>
          <a:xfrm>
            <a:off x="6583680" y="486468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Historical Bug / Incident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21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A6863-8E63-4D88-9AE6-CD1C8DCE47E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822960" y="5486040"/>
            <a:ext cx="4845960" cy="621360"/>
          </a:xfrm>
          <a:prstGeom prst="roundRect">
            <a:avLst>
              <a:gd name="adj" fmla="val 7353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051560" y="5668920"/>
            <a:ext cx="42058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✓  </a:t>
            </a:r>
            <a:r>
              <a:rPr lang="en-US" sz="11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Common </a:t>
            </a:r>
            <a:r>
              <a:rPr lang="en-US" sz="1150" b="1" dirty="0" smtClean="0">
                <a:solidFill>
                  <a:srgbClr val="243047"/>
                </a:solidFill>
              </a:rPr>
              <a:t>SQL Function</a:t>
            </a:r>
            <a:r>
              <a:rPr lang="en-US" sz="1150" b="1" dirty="0" smtClean="0">
                <a:solidFill>
                  <a:srgbClr val="243047"/>
                </a:solidFill>
              </a:rPr>
              <a:t> (Option)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zh-TW" sz="2600" b="1" dirty="0">
                <a:solidFill>
                  <a:srgbClr val="172033"/>
                </a:solidFill>
                <a:ea typeface="Noto Sans CJK TC"/>
              </a:rPr>
              <a:t>Prepare Material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OCAP </a:t>
            </a:r>
            <a:r>
              <a:rPr lang="zh-TW" altLang="en-US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為範例</a:t>
            </a:r>
            <a:r>
              <a:rPr lang="en-US" altLang="zh-TW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, </a:t>
            </a:r>
            <a:r>
              <a:rPr lang="zh-TW" altLang="en-US" sz="1150" dirty="0">
                <a:solidFill>
                  <a:srgbClr val="657386"/>
                </a:solidFill>
                <a:latin typeface="Noto Sans CJK TC"/>
              </a:rPr>
              <a:t>每個元件測試</a:t>
            </a:r>
            <a:r>
              <a:rPr lang="zh-TW" altLang="en-US" sz="1150" dirty="0" smtClean="0">
                <a:solidFill>
                  <a:srgbClr val="657386"/>
                </a:solidFill>
                <a:latin typeface="Noto Sans CJK TC"/>
              </a:rPr>
              <a:t>需使用以下</a:t>
            </a:r>
            <a:r>
              <a:rPr lang="en-US" altLang="zh-TW" sz="1150" dirty="0" smtClean="0">
                <a:solidFill>
                  <a:srgbClr val="657386"/>
                </a:solidFill>
                <a:latin typeface="Noto Sans CJK TC"/>
              </a:rPr>
              <a:t>Prompt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A6863-8E63-4D88-9AE6-CD1C8DCE47E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17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593465" y="2433294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3"/>
          <p:cNvSpPr/>
          <p:nvPr/>
        </p:nvSpPr>
        <p:spPr>
          <a:xfrm>
            <a:off x="593465" y="2433294"/>
            <a:ext cx="54360" cy="141696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754065" y="2489296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Prompt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772424" y="2864978"/>
            <a:ext cx="2647191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zh-TW" altLang="en-US" sz="1050" dirty="0">
                <a:solidFill>
                  <a:srgbClr val="657386"/>
                </a:solidFill>
              </a:rPr>
              <a:t>請產生 </a:t>
            </a:r>
            <a:r>
              <a:rPr lang="en-US" sz="1050" dirty="0">
                <a:solidFill>
                  <a:srgbClr val="657386"/>
                </a:solidFill>
              </a:rPr>
              <a:t>XXX </a:t>
            </a:r>
            <a:r>
              <a:rPr lang="zh-TW" altLang="en-US" sz="1050" dirty="0">
                <a:solidFill>
                  <a:srgbClr val="657386"/>
                </a:solidFill>
              </a:rPr>
              <a:t>方塊的 </a:t>
            </a:r>
            <a:r>
              <a:rPr lang="en-US" sz="1050" dirty="0">
                <a:solidFill>
                  <a:srgbClr val="657386"/>
                </a:solidFill>
              </a:rPr>
              <a:t>E2E Regression Test。</a:t>
            </a:r>
          </a:p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zh-TW" altLang="en-US" sz="1050" dirty="0">
                <a:solidFill>
                  <a:srgbClr val="657386"/>
                </a:solidFill>
              </a:rPr>
              <a:t>請自行分析現有 </a:t>
            </a:r>
            <a:r>
              <a:rPr lang="en-US" sz="1050" dirty="0">
                <a:solidFill>
                  <a:srgbClr val="657386"/>
                </a:solidFill>
              </a:rPr>
              <a:t>VB.NET Source、</a:t>
            </a:r>
            <a:r>
              <a:rPr lang="zh-TW" altLang="en-US" sz="1050" dirty="0">
                <a:solidFill>
                  <a:srgbClr val="657386"/>
                </a:solidFill>
              </a:rPr>
              <a:t>方塊文件、問題文件、</a:t>
            </a:r>
            <a:r>
              <a:rPr lang="en-US" sz="1050" dirty="0">
                <a:solidFill>
                  <a:srgbClr val="657386"/>
                </a:solidFill>
              </a:rPr>
              <a:t>DDL </a:t>
            </a:r>
            <a:r>
              <a:rPr lang="zh-TW" altLang="en-US" sz="1050" dirty="0">
                <a:solidFill>
                  <a:srgbClr val="657386"/>
                </a:solidFill>
              </a:rPr>
              <a:t>與相關 </a:t>
            </a:r>
            <a:r>
              <a:rPr lang="en-US" sz="1050" dirty="0">
                <a:solidFill>
                  <a:srgbClr val="657386"/>
                </a:solidFill>
              </a:rPr>
              <a:t>Scheduler SOP。</a:t>
            </a:r>
            <a:endParaRPr lang="en-US" sz="1050" dirty="0">
              <a:solidFill>
                <a:srgbClr val="657386"/>
              </a:solidFill>
            </a:endParaRPr>
          </a:p>
        </p:txBody>
      </p:sp>
      <p:sp>
        <p:nvSpPr>
          <p:cNvPr id="35" name="Shape 2"/>
          <p:cNvSpPr/>
          <p:nvPr/>
        </p:nvSpPr>
        <p:spPr>
          <a:xfrm>
            <a:off x="8488202" y="2433294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8488202" y="2433294"/>
            <a:ext cx="54360" cy="1416960"/>
          </a:xfrm>
          <a:prstGeom prst="rect">
            <a:avLst/>
          </a:prstGeom>
          <a:solidFill>
            <a:srgbClr val="00B0F0"/>
          </a:solidFill>
          <a:ln w="12700">
            <a:solidFill>
              <a:srgbClr val="00B0F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8648801" y="2489296"/>
            <a:ext cx="2439741" cy="3756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Validate Prompt(Option)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8667161" y="2864978"/>
            <a:ext cx="2647191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altLang="zh-TW" sz="1050" dirty="0" smtClean="0">
                <a:solidFill>
                  <a:srgbClr val="657386"/>
                </a:solidFill>
              </a:rPr>
              <a:t>Review only. Do not modify files.</a:t>
            </a:r>
          </a:p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zh-TW" altLang="en-US" sz="1050" dirty="0" smtClean="0">
                <a:solidFill>
                  <a:srgbClr val="657386"/>
                </a:solidFill>
              </a:rPr>
              <a:t>確認指定 </a:t>
            </a:r>
            <a:r>
              <a:rPr lang="en-US" altLang="zh-TW" sz="1050" dirty="0" smtClean="0">
                <a:solidFill>
                  <a:srgbClr val="657386"/>
                </a:solidFill>
              </a:rPr>
              <a:t>XXX </a:t>
            </a:r>
            <a:r>
              <a:rPr lang="zh-TW" altLang="en-US" sz="1050" dirty="0" smtClean="0">
                <a:solidFill>
                  <a:srgbClr val="657386"/>
                </a:solidFill>
              </a:rPr>
              <a:t>方塊的 </a:t>
            </a:r>
            <a:r>
              <a:rPr lang="en-US" altLang="zh-TW" sz="1050" dirty="0" smtClean="0">
                <a:solidFill>
                  <a:srgbClr val="657386"/>
                </a:solidFill>
              </a:rPr>
              <a:t>E2E Regression Test</a:t>
            </a:r>
            <a:r>
              <a:rPr lang="zh-TW" altLang="en-US" sz="1050" dirty="0" smtClean="0">
                <a:solidFill>
                  <a:srgbClr val="657386"/>
                </a:solidFill>
              </a:rPr>
              <a:t>：</a:t>
            </a:r>
          </a:p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zh-TW" altLang="en-US" sz="1050" dirty="0" smtClean="0">
                <a:solidFill>
                  <a:srgbClr val="657386"/>
                </a:solidFill>
              </a:rPr>
              <a:t>有涵蓋重要不同參數與行為。</a:t>
            </a:r>
            <a:r>
              <a:rPr lang="en-US" altLang="zh-TW" sz="1050" dirty="0" smtClean="0">
                <a:solidFill>
                  <a:srgbClr val="657386"/>
                </a:solidFill>
              </a:rPr>
              <a:t>....</a:t>
            </a:r>
            <a:endParaRPr lang="en-US" sz="1050" dirty="0">
              <a:solidFill>
                <a:srgbClr val="657386"/>
              </a:solidFill>
            </a:endParaRPr>
          </a:p>
        </p:txBody>
      </p:sp>
      <p:sp>
        <p:nvSpPr>
          <p:cNvPr id="39" name="Shape 2"/>
          <p:cNvSpPr/>
          <p:nvPr/>
        </p:nvSpPr>
        <p:spPr>
          <a:xfrm>
            <a:off x="4540833" y="2433294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4540833" y="2433294"/>
            <a:ext cx="54360" cy="1416960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4701432" y="2489296"/>
            <a:ext cx="2439741" cy="3756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Validate Script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4719792" y="2864978"/>
            <a:ext cx="2647191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altLang="zh-TW" sz="1050" dirty="0" smtClean="0">
                <a:solidFill>
                  <a:srgbClr val="657386"/>
                </a:solidFill>
              </a:rPr>
              <a:t>1. run framework</a:t>
            </a:r>
          </a:p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sz="1050" dirty="0" smtClean="0">
                <a:solidFill>
                  <a:srgbClr val="657386"/>
                </a:solidFill>
              </a:rPr>
              <a:t>2. check code coverage</a:t>
            </a:r>
          </a:p>
          <a:p>
            <a:pPr>
              <a:lnSpc>
                <a:spcPts val="1400"/>
              </a:lnSpc>
              <a:tabLst>
                <a:tab pos="0" algn="l"/>
              </a:tabLst>
            </a:pPr>
            <a:r>
              <a:rPr lang="en-US" sz="1050" dirty="0" smtClean="0">
                <a:solidFill>
                  <a:srgbClr val="657386"/>
                </a:solidFill>
              </a:rPr>
              <a:t>3. Detect cheat </a:t>
            </a:r>
            <a:r>
              <a:rPr lang="en-US" sz="1050" dirty="0" err="1" smtClean="0">
                <a:solidFill>
                  <a:srgbClr val="657386"/>
                </a:solidFill>
              </a:rPr>
              <a:t>sql</a:t>
            </a:r>
            <a:endParaRPr lang="en-US" sz="1050" dirty="0">
              <a:solidFill>
                <a:srgbClr val="6573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4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altLang="zh-TW" sz="2600" b="1" dirty="0">
                <a:solidFill>
                  <a:srgbClr val="172033"/>
                </a:solidFill>
                <a:ea typeface="Noto Sans CJK TC"/>
              </a:rPr>
              <a:t>Prepare </a:t>
            </a:r>
            <a:r>
              <a:rPr lang="en-US" altLang="zh-TW" sz="2600" b="1" dirty="0" smtClean="0">
                <a:solidFill>
                  <a:srgbClr val="172033"/>
                </a:solidFill>
                <a:ea typeface="Noto Sans CJK TC"/>
              </a:rPr>
              <a:t>Material – Multi Case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OCAP </a:t>
            </a:r>
            <a:r>
              <a:rPr lang="zh-TW" altLang="en-US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為範例</a:t>
            </a:r>
            <a:r>
              <a:rPr lang="en-US" altLang="zh-TW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, </a:t>
            </a:r>
            <a:r>
              <a:rPr lang="zh-TW" altLang="en-US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保護檔案</a:t>
            </a:r>
            <a:r>
              <a:rPr lang="en-US" altLang="zh-TW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&amp;</a:t>
            </a:r>
            <a:r>
              <a:rPr lang="zh-TW" altLang="en-US" sz="1150" dirty="0" smtClean="0">
                <a:solidFill>
                  <a:srgbClr val="657386"/>
                </a:solidFill>
                <a:latin typeface="Noto Sans CJK TC"/>
              </a:rPr>
              <a:t>多個元件測試需使用以下</a:t>
            </a:r>
            <a:r>
              <a:rPr lang="en-US" altLang="zh-TW" sz="1150" dirty="0" smtClean="0">
                <a:solidFill>
                  <a:srgbClr val="657386"/>
                </a:solidFill>
                <a:latin typeface="Noto Sans CJK TC"/>
              </a:rPr>
              <a:t>Prompt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A6863-8E63-4D88-9AE6-CD1C8DCE47E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18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749880" y="1508760"/>
            <a:ext cx="4708800" cy="36115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5852160" y="1508760"/>
            <a:ext cx="5440320" cy="3611520"/>
          </a:xfrm>
          <a:prstGeom prst="roundRect">
            <a:avLst>
              <a:gd name="adj" fmla="val 1772"/>
            </a:avLst>
          </a:prstGeom>
          <a:solidFill>
            <a:srgbClr val="EBF1FF"/>
          </a:solidFill>
          <a:ln w="12700">
            <a:solidFill>
              <a:srgbClr val="EBF1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10400" y="1760248"/>
            <a:ext cx="53238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- goal_file: 01_basic_python_validator/project/prompt.md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project_root: 01_basic_python_validator/project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validator: 01_basic_python_validator/project/validation.py</a:t>
            </a:r>
          </a:p>
          <a:p>
            <a:endParaRPr lang="zh-TW" altLang="en-US" sz="1400" dirty="0">
              <a:solidFill>
                <a:srgbClr val="000000"/>
              </a:solidFill>
              <a:latin typeface="Arial"/>
            </a:endParaRP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- goal_file: 02_repair_cycle/project/prompt.md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project_root: 02_repair_cycle/project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validator: 02_repair_cycle/project/validation.py</a:t>
            </a:r>
          </a:p>
          <a:p>
            <a:endParaRPr lang="zh-TW" altLang="en-US" sz="1400" dirty="0">
              <a:solidFill>
                <a:srgbClr val="000000"/>
              </a:solidFill>
              <a:latin typeface="Arial"/>
            </a:endParaRP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- goal_file: 03_ai_validator_voting/project/prompt.md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project_root: 03_ai_validator_voting/project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validator: ai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ai_validator_prompt_file: 03_ai_validator_voting/project/ai_validation.md</a:t>
            </a:r>
          </a:p>
          <a:p>
            <a:r>
              <a:rPr lang="zh-TW" altLang="en-US" sz="1400" dirty="0">
                <a:solidFill>
                  <a:srgbClr val="000000"/>
                </a:solidFill>
                <a:latin typeface="Arial"/>
              </a:rPr>
              <a:t>  ai_validator_count: 3</a:t>
            </a:r>
          </a:p>
        </p:txBody>
      </p:sp>
      <p:sp>
        <p:nvSpPr>
          <p:cNvPr id="5" name="矩形 4"/>
          <p:cNvSpPr/>
          <p:nvPr/>
        </p:nvSpPr>
        <p:spPr>
          <a:xfrm>
            <a:off x="894480" y="1867969"/>
            <a:ext cx="44196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err="1">
                <a:solidFill>
                  <a:srgbClr val="000000"/>
                </a:solidFill>
                <a:latin typeface="Arial"/>
              </a:rPr>
              <a:t>protected_paths</a:t>
            </a:r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: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- prompt.md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- </a:t>
            </a:r>
            <a:r>
              <a:rPr lang="en-US" altLang="zh-TW" sz="1400" dirty="0" smtClean="0">
                <a:solidFill>
                  <a:srgbClr val="000000"/>
                </a:solidFill>
                <a:latin typeface="Arial"/>
              </a:rPr>
              <a:t>validation.py</a:t>
            </a:r>
            <a:endParaRPr lang="en-US" altLang="zh-TW" sz="1400" dirty="0">
              <a:solidFill>
                <a:srgbClr val="000000"/>
              </a:solidFill>
              <a:latin typeface="Arial"/>
            </a:endParaRP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- </a:t>
            </a:r>
            <a:r>
              <a:rPr lang="en-US" altLang="zh-TW" sz="1400" dirty="0" smtClean="0">
                <a:solidFill>
                  <a:srgbClr val="000000"/>
                </a:solidFill>
                <a:latin typeface="Arial"/>
              </a:rPr>
              <a:t>ai_task_runner_validator.py</a:t>
            </a:r>
          </a:p>
          <a:p>
            <a:endParaRPr lang="en-US" altLang="zh-TW" sz="1400" dirty="0">
              <a:solidFill>
                <a:srgbClr val="000000"/>
              </a:solidFill>
              <a:latin typeface="Arial"/>
            </a:endParaRP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instructions: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always: |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  Work only inside this project root.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  Keep the implementation small and generic.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  Never modify protected task, prompt, validator, or runner-control files.</a:t>
            </a:r>
          </a:p>
          <a:p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    Do not modify .</a:t>
            </a:r>
            <a:r>
              <a:rPr lang="en-US" altLang="zh-TW" sz="1400" dirty="0" err="1">
                <a:solidFill>
                  <a:srgbClr val="000000"/>
                </a:solidFill>
                <a:latin typeface="Arial"/>
              </a:rPr>
              <a:t>ai</a:t>
            </a:r>
            <a:r>
              <a:rPr lang="en-US" altLang="zh-TW" sz="1400" dirty="0">
                <a:solidFill>
                  <a:srgbClr val="000000"/>
                </a:solidFill>
                <a:latin typeface="Arial"/>
              </a:rPr>
              <a:t>-task-runner state or validator reports.</a:t>
            </a:r>
            <a:endParaRPr lang="en-US" altLang="zh-TW" sz="140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4978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sz="2600" b="1" dirty="0" err="1">
                <a:solidFill>
                  <a:srgbClr val="172033"/>
                </a:solidFill>
                <a:latin typeface="Noto Sans CJK TC"/>
                <a:ea typeface="Noto Sans CJK TC"/>
              </a:rPr>
              <a:t>延伸價值</a:t>
            </a:r>
            <a:r>
              <a:rPr sz="2600" b="1" dirty="0">
                <a:solidFill>
                  <a:srgbClr val="172033"/>
                </a:solidFill>
                <a:latin typeface="Noto Sans CJK TC"/>
                <a:ea typeface="Noto Sans CJK TC"/>
              </a:rPr>
              <a:t> — Workflow </a:t>
            </a:r>
            <a:r>
              <a:rPr sz="2600" b="1" dirty="0" err="1">
                <a:solidFill>
                  <a:srgbClr val="172033"/>
                </a:solidFill>
                <a:latin typeface="Noto Sans CJK TC"/>
                <a:ea typeface="Noto Sans CJK TC"/>
              </a:rPr>
              <a:t>可重用</a:t>
            </a:r>
            <a:endParaRPr sz="2600" b="1" dirty="0">
              <a:solidFill>
                <a:srgbClr val="172033"/>
              </a:solidFill>
              <a:latin typeface="Noto Sans CJK TC"/>
              <a:ea typeface="Noto Sans CJK TC"/>
            </a:endParaRPr>
          </a:p>
        </p:txBody>
      </p:sp>
      <p:sp>
        <p:nvSpPr>
          <p:cNvPr id="420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sz="1150" dirty="0" err="1">
                <a:solidFill>
                  <a:srgbClr val="657386"/>
                </a:solidFill>
                <a:latin typeface="Noto Sans CJK TC"/>
              </a:rPr>
              <a:t>主軸仍是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Regression </a:t>
            </a:r>
            <a:r>
              <a:rPr sz="1150" dirty="0" err="1">
                <a:solidFill>
                  <a:srgbClr val="657386"/>
                </a:solidFill>
                <a:latin typeface="Noto Sans CJK TC"/>
              </a:rPr>
              <a:t>Test；同一套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Workflow Core </a:t>
            </a:r>
            <a:r>
              <a:rPr sz="1150" dirty="0" err="1">
                <a:solidFill>
                  <a:srgbClr val="657386"/>
                </a:solidFill>
                <a:latin typeface="Noto Sans CJK TC"/>
              </a:rPr>
              <a:t>可延伸到其他</a:t>
            </a:r>
            <a:r>
              <a:rPr sz="1150" dirty="0">
                <a:solidFill>
                  <a:srgbClr val="657386"/>
                </a:solidFill>
                <a:latin typeface="Noto Sans CJK TC"/>
              </a:rPr>
              <a:t> AI SOP</a:t>
            </a:r>
          </a:p>
        </p:txBody>
      </p:sp>
      <p:sp>
        <p:nvSpPr>
          <p:cNvPr id="421" name="Shape 2"/>
          <p:cNvSpPr/>
          <p:nvPr/>
        </p:nvSpPr>
        <p:spPr>
          <a:xfrm>
            <a:off x="731520" y="1554480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3"/>
          <p:cNvSpPr/>
          <p:nvPr/>
        </p:nvSpPr>
        <p:spPr>
          <a:xfrm>
            <a:off x="731520" y="1554480"/>
            <a:ext cx="54360" cy="141696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4"/>
          <p:cNvSpPr/>
          <p:nvPr/>
        </p:nvSpPr>
        <p:spPr>
          <a:xfrm>
            <a:off x="932760" y="1783080"/>
            <a:ext cx="420120" cy="420120"/>
          </a:xfrm>
          <a:prstGeom prst="ellipse">
            <a:avLst/>
          </a:prstGeom>
          <a:solidFill>
            <a:srgbClr val="39C58A">
              <a:alpha val="12000"/>
            </a:srgbClr>
          </a:solidFill>
          <a:ln w="12700">
            <a:solidFill>
              <a:srgbClr val="39C58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"/>
          <p:cNvSpPr/>
          <p:nvPr/>
        </p:nvSpPr>
        <p:spPr>
          <a:xfrm>
            <a:off x="932760" y="1783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9C58A"/>
                </a:solidFill>
                <a:effectLst/>
                <a:uFillTx/>
                <a:latin typeface="Noto Sans CJK T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6"/>
          <p:cNvSpPr/>
          <p:nvPr/>
        </p:nvSpPr>
        <p:spPr>
          <a:xfrm>
            <a:off x="1481400" y="1755720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Regression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1481400" y="221292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Generate → Run → Verify → Repair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8"/>
          <p:cNvSpPr/>
          <p:nvPr/>
        </p:nvSpPr>
        <p:spPr>
          <a:xfrm>
            <a:off x="4160520" y="1554480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9"/>
          <p:cNvSpPr/>
          <p:nvPr/>
        </p:nvSpPr>
        <p:spPr>
          <a:xfrm>
            <a:off x="4160520" y="1554480"/>
            <a:ext cx="54360" cy="141696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0"/>
          <p:cNvSpPr/>
          <p:nvPr/>
        </p:nvSpPr>
        <p:spPr>
          <a:xfrm>
            <a:off x="4361760" y="1783080"/>
            <a:ext cx="420120" cy="420120"/>
          </a:xfrm>
          <a:prstGeom prst="ellipse">
            <a:avLst/>
          </a:prstGeom>
          <a:solidFill>
            <a:srgbClr val="E85D75">
              <a:alpha val="12000"/>
            </a:srgbClr>
          </a:solidFill>
          <a:ln w="12700">
            <a:solidFill>
              <a:srgbClr val="E85D7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1"/>
          <p:cNvSpPr/>
          <p:nvPr/>
        </p:nvSpPr>
        <p:spPr>
          <a:xfrm>
            <a:off x="4361760" y="1783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5D75"/>
                </a:solidFill>
                <a:effectLst/>
                <a:uFillTx/>
                <a:latin typeface="Noto Sans CJK T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2"/>
          <p:cNvSpPr/>
          <p:nvPr/>
        </p:nvSpPr>
        <p:spPr>
          <a:xfrm>
            <a:off x="4910400" y="1755720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Security Review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3"/>
          <p:cNvSpPr/>
          <p:nvPr/>
        </p:nvSpPr>
        <p:spPr>
          <a:xfrm>
            <a:off x="4910400" y="221292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Scan → Analyze → Grill → Validate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4"/>
          <p:cNvSpPr/>
          <p:nvPr/>
        </p:nvSpPr>
        <p:spPr>
          <a:xfrm>
            <a:off x="7589520" y="1554480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5"/>
          <p:cNvSpPr/>
          <p:nvPr/>
        </p:nvSpPr>
        <p:spPr>
          <a:xfrm>
            <a:off x="7589520" y="1554480"/>
            <a:ext cx="54360" cy="1416960"/>
          </a:xfrm>
          <a:prstGeom prst="rect">
            <a:avLst/>
          </a:prstGeom>
          <a:solidFill>
            <a:srgbClr val="4B7BEC"/>
          </a:solidFill>
          <a:ln w="12700">
            <a:solidFill>
              <a:srgbClr val="4B7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6"/>
          <p:cNvSpPr/>
          <p:nvPr/>
        </p:nvSpPr>
        <p:spPr>
          <a:xfrm>
            <a:off x="7790760" y="1783080"/>
            <a:ext cx="420120" cy="420120"/>
          </a:xfrm>
          <a:prstGeom prst="ellipse">
            <a:avLst/>
          </a:prstGeom>
          <a:solidFill>
            <a:srgbClr val="4B7BEC">
              <a:alpha val="12000"/>
            </a:srgbClr>
          </a:solidFill>
          <a:ln w="12700">
            <a:solidFill>
              <a:srgbClr val="4B7BEC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7"/>
          <p:cNvSpPr/>
          <p:nvPr/>
        </p:nvSpPr>
        <p:spPr>
          <a:xfrm>
            <a:off x="7790760" y="17830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B7BEC"/>
                </a:solidFill>
                <a:effectLst/>
                <a:uFillTx/>
                <a:latin typeface="Noto Sans CJK T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8"/>
          <p:cNvSpPr/>
          <p:nvPr/>
        </p:nvSpPr>
        <p:spPr>
          <a:xfrm>
            <a:off x="8339400" y="1755720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PRR / Report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9"/>
          <p:cNvSpPr/>
          <p:nvPr/>
        </p:nvSpPr>
        <p:spPr>
          <a:xfrm>
            <a:off x="8339400" y="221292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Collect Evidence → Generate → 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20"/>
          <p:cNvSpPr/>
          <p:nvPr/>
        </p:nvSpPr>
        <p:spPr>
          <a:xfrm>
            <a:off x="731520" y="3520440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21"/>
          <p:cNvSpPr/>
          <p:nvPr/>
        </p:nvSpPr>
        <p:spPr>
          <a:xfrm>
            <a:off x="731520" y="3520440"/>
            <a:ext cx="54360" cy="14169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2"/>
          <p:cNvSpPr/>
          <p:nvPr/>
        </p:nvSpPr>
        <p:spPr>
          <a:xfrm>
            <a:off x="932760" y="3749040"/>
            <a:ext cx="420120" cy="420120"/>
          </a:xfrm>
          <a:prstGeom prst="ellipse">
            <a:avLst/>
          </a:prstGeom>
          <a:solidFill>
            <a:srgbClr val="F2A65A">
              <a:alpha val="12000"/>
            </a:srgbClr>
          </a:solidFill>
          <a:ln w="12700">
            <a:solidFill>
              <a:srgbClr val="F2A65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3"/>
          <p:cNvSpPr/>
          <p:nvPr/>
        </p:nvSpPr>
        <p:spPr>
          <a:xfrm>
            <a:off x="932760" y="3749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24"/>
          <p:cNvSpPr/>
          <p:nvPr/>
        </p:nvSpPr>
        <p:spPr>
          <a:xfrm>
            <a:off x="1481400" y="3721680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43047"/>
                </a:solidFill>
                <a:effectLst/>
                <a:uFillTx/>
                <a:latin typeface="Noto Sans CJK TC"/>
              </a:rPr>
              <a:t>Documentation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5"/>
          <p:cNvSpPr/>
          <p:nvPr/>
        </p:nvSpPr>
        <p:spPr>
          <a:xfrm>
            <a:off x="1481400" y="417888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Analyze Code → Generate → Cross-check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26"/>
          <p:cNvSpPr/>
          <p:nvPr/>
        </p:nvSpPr>
        <p:spPr>
          <a:xfrm>
            <a:off x="4160520" y="3520440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27"/>
          <p:cNvSpPr/>
          <p:nvPr/>
        </p:nvSpPr>
        <p:spPr>
          <a:xfrm>
            <a:off x="4160520" y="3520440"/>
            <a:ext cx="54360" cy="1416960"/>
          </a:xfrm>
          <a:prstGeom prst="rect">
            <a:avLst/>
          </a:prstGeom>
          <a:solidFill>
            <a:srgbClr val="7D5CC6"/>
          </a:solidFill>
          <a:ln w="12700">
            <a:solidFill>
              <a:srgbClr val="7D5CC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8"/>
          <p:cNvSpPr/>
          <p:nvPr/>
        </p:nvSpPr>
        <p:spPr>
          <a:xfrm>
            <a:off x="4361760" y="3749040"/>
            <a:ext cx="420120" cy="420120"/>
          </a:xfrm>
          <a:prstGeom prst="ellipse">
            <a:avLst/>
          </a:prstGeom>
          <a:solidFill>
            <a:srgbClr val="7D5CC6">
              <a:alpha val="12000"/>
            </a:srgbClr>
          </a:solidFill>
          <a:ln w="12700">
            <a:solidFill>
              <a:srgbClr val="7D5CC6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9"/>
          <p:cNvSpPr/>
          <p:nvPr/>
        </p:nvSpPr>
        <p:spPr>
          <a:xfrm>
            <a:off x="4361760" y="3749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D5CC6"/>
                </a:solidFill>
                <a:effectLst/>
                <a:uFillTx/>
                <a:latin typeface="Noto Sans CJK T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30"/>
          <p:cNvSpPr/>
          <p:nvPr/>
        </p:nvSpPr>
        <p:spPr>
          <a:xfrm>
            <a:off x="4910400" y="3721680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>
                <a:solidFill>
                  <a:srgbClr val="243047"/>
                </a:solidFill>
                <a:effectLst/>
                <a:uFillTx/>
                <a:latin typeface="Noto Sans CJK TC"/>
              </a:rPr>
              <a:t>Refactoring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31"/>
          <p:cNvSpPr/>
          <p:nvPr/>
        </p:nvSpPr>
        <p:spPr>
          <a:xfrm>
            <a:off x="4910400" y="417888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Plan → Modify → Build → Test → PASS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32"/>
          <p:cNvSpPr/>
          <p:nvPr/>
        </p:nvSpPr>
        <p:spPr>
          <a:xfrm>
            <a:off x="7589520" y="3520440"/>
            <a:ext cx="29257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EBF0"/>
            </a:solidFill>
            <a:round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33"/>
          <p:cNvSpPr/>
          <p:nvPr/>
        </p:nvSpPr>
        <p:spPr>
          <a:xfrm>
            <a:off x="7589520" y="3520440"/>
            <a:ext cx="54360" cy="1416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34"/>
          <p:cNvSpPr/>
          <p:nvPr/>
        </p:nvSpPr>
        <p:spPr>
          <a:xfrm>
            <a:off x="7790760" y="3749040"/>
            <a:ext cx="420120" cy="420120"/>
          </a:xfrm>
          <a:prstGeom prst="ellipse">
            <a:avLst/>
          </a:prstGeom>
          <a:solidFill>
            <a:srgbClr val="2A9D8F">
              <a:alpha val="12000"/>
            </a:srgbClr>
          </a:solidFill>
          <a:ln w="12700">
            <a:solidFill>
              <a:srgbClr val="2A9D8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5"/>
          <p:cNvSpPr/>
          <p:nvPr/>
        </p:nvSpPr>
        <p:spPr>
          <a:xfrm>
            <a:off x="7790760" y="3749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Noto Sans CJK T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6"/>
          <p:cNvSpPr/>
          <p:nvPr/>
        </p:nvSpPr>
        <p:spPr>
          <a:xfrm>
            <a:off x="8339400" y="3721680"/>
            <a:ext cx="195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 dirty="0" smtClean="0">
                <a:solidFill>
                  <a:srgbClr val="243047"/>
                </a:solidFill>
                <a:effectLst/>
                <a:uFillTx/>
                <a:latin typeface="Noto Sans CJK TC"/>
              </a:rPr>
              <a:t>Deployment Tool</a:t>
            </a:r>
            <a:endParaRPr lang="en-US" sz="15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7"/>
          <p:cNvSpPr/>
          <p:nvPr/>
        </p:nvSpPr>
        <p:spPr>
          <a:xfrm>
            <a:off x="8339400" y="417888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altLang="zh-TW" sz="1050" dirty="0">
                <a:solidFill>
                  <a:srgbClr val="657386"/>
                </a:solidFill>
              </a:rPr>
              <a:t>Plan </a:t>
            </a:r>
            <a:r>
              <a:rPr lang="en-US" altLang="zh-TW" sz="1050" dirty="0" smtClean="0">
                <a:solidFill>
                  <a:srgbClr val="657386"/>
                </a:solidFill>
              </a:rPr>
              <a:t>→ To-do Task</a:t>
            </a:r>
            <a:r>
              <a:rPr lang="en-US" altLang="zh-TW" sz="1050" dirty="0">
                <a:solidFill>
                  <a:srgbClr val="657386"/>
                </a:solidFill>
              </a:rPr>
              <a:t> </a:t>
            </a:r>
            <a:r>
              <a:rPr lang="en-US" altLang="zh-TW" sz="1050" dirty="0" smtClean="0">
                <a:solidFill>
                  <a:srgbClr val="657386"/>
                </a:solidFill>
              </a:rPr>
              <a:t>→ Review → Validate → Repair</a:t>
            </a:r>
            <a:r>
              <a:rPr lang="en-US" altLang="zh-TW" sz="1050" dirty="0">
                <a:solidFill>
                  <a:srgbClr val="657386"/>
                </a:solidFill>
              </a:rPr>
              <a:t>→ </a:t>
            </a:r>
            <a:r>
              <a:rPr lang="en-US" altLang="zh-TW" sz="1050" dirty="0" smtClean="0">
                <a:solidFill>
                  <a:srgbClr val="657386"/>
                </a:solidFill>
              </a:rPr>
              <a:t>PASS</a:t>
            </a:r>
            <a:endParaRPr lang="en-US" altLang="zh-TW" sz="105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38"/>
          <p:cNvSpPr/>
          <p:nvPr/>
        </p:nvSpPr>
        <p:spPr>
          <a:xfrm>
            <a:off x="658440" y="5815440"/>
            <a:ext cx="10881000" cy="456840"/>
          </a:xfrm>
          <a:prstGeom prst="roundRect">
            <a:avLst>
              <a:gd name="adj" fmla="val 12000"/>
            </a:avLst>
          </a:prstGeom>
          <a:solidFill>
            <a:srgbClr val="EEF2F6"/>
          </a:solidFill>
          <a:ln w="12700">
            <a:solidFill>
              <a:srgbClr val="EEF2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9"/>
          <p:cNvSpPr/>
          <p:nvPr/>
        </p:nvSpPr>
        <p:spPr>
          <a:xfrm>
            <a:off x="868680" y="59346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sz="1200" b="1" dirty="0"/>
              <a:t>Regression Test </a:t>
            </a:r>
            <a:r>
              <a:rPr sz="1200" b="1" dirty="0" err="1"/>
              <a:t>是主要</a:t>
            </a:r>
            <a:r>
              <a:rPr sz="1200" b="1" dirty="0"/>
              <a:t> Use </a:t>
            </a:r>
            <a:r>
              <a:rPr sz="1200" b="1" dirty="0" err="1"/>
              <a:t>Case；其他場景只需替換</a:t>
            </a:r>
            <a:r>
              <a:rPr sz="1200" b="1" dirty="0"/>
              <a:t> Skill / Stage / Validator / Completion Condition。</a:t>
            </a:r>
          </a:p>
        </p:txBody>
      </p:sp>
      <p:sp>
        <p:nvSpPr>
          <p:cNvPr id="459" name="PlaceHolder 1"/>
          <p:cNvSpPr>
            <a:spLocks noGrp="1"/>
          </p:cNvSpPr>
          <p:nvPr>
            <p:ph type="sldNum" idx="19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32AD9C0-64EC-42B6-80AC-43DF291AE392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19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2104" y="2497035"/>
            <a:ext cx="10972440" cy="1144800"/>
          </a:xfrm>
        </p:spPr>
        <p:txBody>
          <a:bodyPr/>
          <a:lstStyle/>
          <a:p>
            <a:pPr algn="ctr"/>
            <a:r>
              <a:rPr lang="en-US" altLang="zh-TW" b="1" dirty="0" smtClean="0"/>
              <a:t>QA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67776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Appendix — </a:t>
            </a:r>
            <a:r>
              <a:rPr lang="en-US" sz="2600" b="1" dirty="0" smtClean="0">
                <a:solidFill>
                  <a:srgbClr val="172033"/>
                </a:solidFill>
                <a:latin typeface="Noto Sans CJK TC"/>
                <a:ea typeface="Noto Sans CJK TC"/>
              </a:rPr>
              <a:t>UI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A6863-8E63-4D88-9AE6-CD1C8DCE47E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21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2" name="Picture 4" descr="ui-workflow-runn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674" y="1292101"/>
            <a:ext cx="7865410" cy="484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smtClean="0">
                <a:solidFill>
                  <a:srgbClr val="657386"/>
                </a:solidFill>
                <a:latin typeface="Noto Sans CJK TC"/>
              </a:rPr>
              <a:t>Project Chat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62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Appendix — </a:t>
            </a:r>
            <a:r>
              <a:rPr lang="en-US" sz="2600" b="1" dirty="0" smtClean="0">
                <a:solidFill>
                  <a:srgbClr val="172033"/>
                </a:solidFill>
                <a:latin typeface="Noto Sans CJK TC"/>
                <a:ea typeface="Noto Sans CJK TC"/>
              </a:rPr>
              <a:t>UI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A6863-8E63-4D88-9AE6-CD1C8DCE47E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22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22" name="Picture 2" descr="ui-workflow-design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451" y="1116530"/>
            <a:ext cx="8501538" cy="523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smtClean="0">
                <a:solidFill>
                  <a:srgbClr val="657386"/>
                </a:solidFill>
                <a:latin typeface="Noto Sans CJK TC"/>
              </a:rPr>
              <a:t>Workflow Designer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028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Appendix — </a:t>
            </a:r>
            <a:r>
              <a:rPr lang="en-US" sz="2600" b="1" dirty="0" smtClean="0">
                <a:solidFill>
                  <a:srgbClr val="172033"/>
                </a:solidFill>
                <a:latin typeface="Noto Sans CJK TC"/>
                <a:ea typeface="Noto Sans CJK TC"/>
              </a:rPr>
              <a:t>UI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DA6863-8E63-4D88-9AE6-CD1C8DCE47EB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23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98" name="Picture 2" descr="ui-ai-workflow-asset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173" y="1132644"/>
            <a:ext cx="8163793" cy="502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dirty="0" smtClean="0">
                <a:solidFill>
                  <a:srgbClr val="657386"/>
                </a:solidFill>
                <a:latin typeface="Noto Sans CJK TC"/>
              </a:rPr>
              <a:t>Skill editor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7101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Appendix — QA </a:t>
            </a:r>
            <a:r>
              <a:rPr lang="zh-CN" sz="260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  <a:ea typeface="Noto Sans CJK TC"/>
              </a:rPr>
              <a:t>應答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0" u="none" strike="noStrike" dirty="0" smtClean="0">
                <a:solidFill>
                  <a:srgbClr val="657386"/>
                </a:solidFill>
                <a:effectLst/>
                <a:uFillTx/>
                <a:latin typeface="Noto Sans CJK TC"/>
              </a:rPr>
              <a:t>風險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"/>
          <p:cNvSpPr/>
          <p:nvPr/>
        </p:nvSpPr>
        <p:spPr>
          <a:xfrm>
            <a:off x="749880" y="1325880"/>
            <a:ext cx="1069812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"/>
          <p:cNvSpPr/>
          <p:nvPr/>
        </p:nvSpPr>
        <p:spPr>
          <a:xfrm>
            <a:off x="960120" y="150876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Q1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4"/>
          <p:cNvSpPr/>
          <p:nvPr/>
        </p:nvSpPr>
        <p:spPr>
          <a:xfrm>
            <a:off x="1481400" y="14904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3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這跟 </a:t>
            </a:r>
            <a:r>
              <a:rPr lang="en-US" sz="123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BDD </a:t>
            </a:r>
            <a:r>
              <a:rPr lang="zh-CN" sz="123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有什麼不同？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5"/>
          <p:cNvSpPr/>
          <p:nvPr/>
        </p:nvSpPr>
        <p:spPr>
          <a:xfrm>
            <a:off x="4526280" y="1490400"/>
            <a:ext cx="6491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BDD </a:t>
            </a:r>
            <a:r>
              <a:rPr lang="zh-CN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可直接沿用：</a:t>
            </a: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BDD </a:t>
            </a:r>
            <a:r>
              <a:rPr lang="zh-CN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定義 </a:t>
            </a: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What to test</a:t>
            </a:r>
            <a:r>
              <a:rPr lang="zh-CN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；</a:t>
            </a: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Framework </a:t>
            </a:r>
            <a:r>
              <a:rPr lang="zh-CN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定義 </a:t>
            </a:r>
            <a:r>
              <a:rPr lang="en-US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How to execute / verify</a:t>
            </a:r>
            <a:r>
              <a:rPr lang="zh-CN" sz="1050" b="0" u="none" strike="noStrike">
                <a:solidFill>
                  <a:srgbClr val="657386"/>
                </a:solidFill>
                <a:effectLst/>
                <a:uFillTx/>
                <a:latin typeface="Noto Sans CJK TC"/>
              </a:rPr>
              <a:t>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6"/>
          <p:cNvSpPr/>
          <p:nvPr/>
        </p:nvSpPr>
        <p:spPr>
          <a:xfrm>
            <a:off x="749880" y="2267640"/>
            <a:ext cx="10698120" cy="868320"/>
          </a:xfrm>
          <a:prstGeom prst="roundRect">
            <a:avLst>
              <a:gd name="adj" fmla="val 5263"/>
            </a:avLst>
          </a:prstGeom>
          <a:solidFill>
            <a:srgbClr val="F0F3F7"/>
          </a:solidFill>
          <a:ln w="12700">
            <a:solidFill>
              <a:srgbClr val="E3E8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7"/>
          <p:cNvSpPr/>
          <p:nvPr/>
        </p:nvSpPr>
        <p:spPr>
          <a:xfrm>
            <a:off x="960120" y="24505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2A65A"/>
                </a:solidFill>
                <a:effectLst/>
                <a:uFillTx/>
                <a:latin typeface="Noto Sans CJK TC"/>
              </a:rPr>
              <a:t>Q2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8"/>
          <p:cNvSpPr/>
          <p:nvPr/>
        </p:nvSpPr>
        <p:spPr>
          <a:xfrm>
            <a:off x="1481400" y="243216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3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怎麼確保 </a:t>
            </a:r>
            <a:r>
              <a:rPr lang="en-US" sz="123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AI </a:t>
            </a:r>
            <a:r>
              <a:rPr lang="zh-CN" sz="1230" b="1" u="none" strike="noStrike">
                <a:solidFill>
                  <a:srgbClr val="172033"/>
                </a:solidFill>
                <a:effectLst/>
                <a:uFillTx/>
                <a:latin typeface="Noto Sans CJK TC"/>
              </a:rPr>
              <a:t>產的是我們要的？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9"/>
          <p:cNvSpPr/>
          <p:nvPr/>
        </p:nvSpPr>
        <p:spPr>
          <a:xfrm>
            <a:off x="4526280" y="2432160"/>
            <a:ext cx="6491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sz="1050" dirty="0" err="1">
                <a:solidFill>
                  <a:srgbClr val="657386"/>
                </a:solidFill>
                <a:latin typeface="Noto Sans CJK TC"/>
              </a:rPr>
              <a:t>不假設第一次就對；靠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> Grill / Review / Framework Run / Final Validation + Independent Signal </a:t>
            </a:r>
            <a:r>
              <a:rPr sz="1050" dirty="0" err="1">
                <a:solidFill>
                  <a:srgbClr val="657386"/>
                </a:solidFill>
                <a:latin typeface="Noto Sans CJK TC"/>
              </a:rPr>
              <a:t>持續找缺口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>。</a:t>
            </a:r>
            <a:endParaRPr lang="en-US" sz="1050" dirty="0">
              <a:solidFill>
                <a:srgbClr val="657386"/>
              </a:solidFill>
              <a:latin typeface="Noto Sans CJK TC"/>
            </a:endParaRPr>
          </a:p>
        </p:txBody>
      </p:sp>
      <p:sp>
        <p:nvSpPr>
          <p:cNvPr id="470" name="Shape 10"/>
          <p:cNvSpPr/>
          <p:nvPr/>
        </p:nvSpPr>
        <p:spPr>
          <a:xfrm>
            <a:off x="749880" y="3209400"/>
            <a:ext cx="10698120" cy="8683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8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1"/>
          <p:cNvSpPr/>
          <p:nvPr/>
        </p:nvSpPr>
        <p:spPr>
          <a:xfrm>
            <a:off x="960120" y="339228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F2A65A"/>
                </a:solidFill>
                <a:effectLst/>
                <a:uFillTx/>
                <a:latin typeface="Noto Sans CJK TC"/>
              </a:rPr>
              <a:t>Q3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2"/>
          <p:cNvSpPr/>
          <p:nvPr/>
        </p:nvSpPr>
        <p:spPr>
          <a:xfrm>
            <a:off x="1481400" y="337428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r>
              <a:rPr sz="1200" b="1" dirty="0" err="1"/>
              <a:t>怎麼確保產出的</a:t>
            </a:r>
            <a:r>
              <a:rPr sz="1200" b="1" dirty="0"/>
              <a:t> Regression </a:t>
            </a:r>
            <a:r>
              <a:rPr sz="1200" b="1" dirty="0" err="1"/>
              <a:t>夠完整</a:t>
            </a:r>
            <a:r>
              <a:rPr sz="1200" b="1" dirty="0"/>
              <a:t>？</a:t>
            </a:r>
          </a:p>
        </p:txBody>
      </p:sp>
      <p:sp>
        <p:nvSpPr>
          <p:cNvPr id="473" name="Text 13"/>
          <p:cNvSpPr/>
          <p:nvPr/>
        </p:nvSpPr>
        <p:spPr>
          <a:xfrm>
            <a:off x="4526280" y="3374280"/>
            <a:ext cx="6491880" cy="5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sz="1050" dirty="0" err="1">
                <a:solidFill>
                  <a:srgbClr val="657386"/>
                </a:solidFill>
                <a:latin typeface="Noto Sans CJK TC"/>
              </a:rPr>
              <a:t>不追求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> 100%。在 Source Code、E2E Sample </a:t>
            </a:r>
            <a:r>
              <a:rPr sz="1050" dirty="0" err="1">
                <a:solidFill>
                  <a:srgbClr val="657386"/>
                </a:solidFill>
                <a:latin typeface="Noto Sans CJK TC"/>
              </a:rPr>
              <a:t>與主要流程資訊足夠時，主要情境目標可抓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> ≥80%；</a:t>
            </a:r>
            <a:r>
              <a:rPr sz="1050" dirty="0" err="1">
                <a:solidFill>
                  <a:srgbClr val="657386"/>
                </a:solidFill>
                <a:latin typeface="Noto Sans CJK TC"/>
              </a:rPr>
              <a:t>特殊情境理論上通常是少數，再透過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> Grill / Review / Independent Check </a:t>
            </a:r>
            <a:r>
              <a:rPr sz="1050" dirty="0" err="1">
                <a:solidFill>
                  <a:srgbClr val="657386"/>
                </a:solidFill>
                <a:latin typeface="Noto Sans CJK TC"/>
              </a:rPr>
              <a:t>持續補強</a:t>
            </a:r>
            <a:r>
              <a:rPr sz="1050" dirty="0">
                <a:solidFill>
                  <a:srgbClr val="657386"/>
                </a:solidFill>
                <a:latin typeface="Noto Sans CJK TC"/>
              </a:rPr>
              <a:t>。</a:t>
            </a:r>
          </a:p>
        </p:txBody>
      </p:sp>
      <p:sp>
        <p:nvSpPr>
          <p:cNvPr id="478" name="Shape 18"/>
          <p:cNvSpPr/>
          <p:nvPr/>
        </p:nvSpPr>
        <p:spPr>
          <a:xfrm>
            <a:off x="749880" y="4151520"/>
            <a:ext cx="10698120" cy="868320"/>
          </a:xfrm>
          <a:prstGeom prst="roundRect">
            <a:avLst>
              <a:gd name="adj" fmla="val 5263"/>
            </a:avLst>
          </a:prstGeom>
          <a:solidFill>
            <a:srgbClr val="F0F3F7"/>
          </a:solidFill>
          <a:ln w="12700">
            <a:solidFill>
              <a:srgbClr val="E3E8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19"/>
          <p:cNvSpPr/>
          <p:nvPr/>
        </p:nvSpPr>
        <p:spPr>
          <a:xfrm>
            <a:off x="960120" y="433440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sz="1200" b="1" dirty="0">
                <a:solidFill>
                  <a:srgbClr val="F2A65A"/>
                </a:solidFill>
                <a:latin typeface="Noto Sans CJK TC"/>
              </a:rPr>
              <a:t>Q4</a:t>
            </a:r>
          </a:p>
        </p:txBody>
      </p:sp>
      <p:sp>
        <p:nvSpPr>
          <p:cNvPr id="480" name="Text 20"/>
          <p:cNvSpPr/>
          <p:nvPr/>
        </p:nvSpPr>
        <p:spPr>
          <a:xfrm>
            <a:off x="1481400" y="43160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3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</a:rPr>
              <a:t>換大模型還需要 </a:t>
            </a:r>
            <a:r>
              <a:rPr lang="en-US" sz="123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</a:rPr>
              <a:t>Workflow</a:t>
            </a:r>
            <a:r>
              <a:rPr lang="zh-CN" sz="1230" b="1" u="none" strike="noStrike" dirty="0">
                <a:solidFill>
                  <a:srgbClr val="172033"/>
                </a:solidFill>
                <a:effectLst/>
                <a:uFillTx/>
                <a:latin typeface="Noto Sans CJK TC"/>
              </a:rPr>
              <a:t>？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4526280" y="4316040"/>
            <a:ext cx="64918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需要。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Model Reliability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問題會下降，但 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SOP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、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Retry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、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Recovery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、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Audit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、</a:t>
            </a:r>
            <a:r>
              <a:rPr lang="en-US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Completion Condition </a:t>
            </a:r>
            <a:r>
              <a:rPr lang="zh-CN" sz="1050" b="0" u="none" strike="noStrike" dirty="0">
                <a:solidFill>
                  <a:srgbClr val="657386"/>
                </a:solidFill>
                <a:effectLst/>
                <a:uFillTx/>
                <a:latin typeface="Noto Sans CJK TC"/>
              </a:rPr>
              <a:t>仍然需要。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sldNum" idx="20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4FACB8-F3F9-4CC4-A1F7-EE345721540D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24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84048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zh-TW" sz="2600" b="1" dirty="0" smtClean="0">
                <a:solidFill>
                  <a:srgbClr val="172033"/>
                </a:solidFill>
                <a:latin typeface="Microsoft JhengHei"/>
              </a:rPr>
              <a:t>Appendix — </a:t>
            </a:r>
            <a:r>
              <a:rPr sz="2600" b="1" dirty="0" smtClean="0">
                <a:solidFill>
                  <a:srgbClr val="172033"/>
                </a:solidFill>
                <a:latin typeface="Microsoft JhengHei"/>
              </a:rPr>
              <a:t>Ralph </a:t>
            </a:r>
            <a:r>
              <a:rPr sz="2600" b="1" dirty="0">
                <a:solidFill>
                  <a:srgbClr val="172033"/>
                </a:solidFill>
                <a:latin typeface="Microsoft JhengHei"/>
              </a:rPr>
              <a:t>Loop vs Workflow </a:t>
            </a:r>
            <a:r>
              <a:rPr sz="2600" b="1" dirty="0" smtClean="0">
                <a:solidFill>
                  <a:srgbClr val="172033"/>
                </a:solidFill>
                <a:latin typeface="Microsoft JhengHei"/>
              </a:rPr>
              <a:t>—</a:t>
            </a:r>
            <a:r>
              <a:rPr sz="2600" b="1" dirty="0" err="1" smtClean="0">
                <a:solidFill>
                  <a:srgbClr val="172033"/>
                </a:solidFill>
                <a:latin typeface="Microsoft JhengHei"/>
              </a:rPr>
              <a:t>比較</a:t>
            </a:r>
            <a:endParaRPr sz="2600" b="1" dirty="0">
              <a:solidFill>
                <a:srgbClr val="172033"/>
              </a:solidFill>
              <a:latin typeface="Microsoft Jheng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96112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57386"/>
                </a:solidFill>
                <a:latin typeface="Microsoft JhengHei"/>
              </a:rPr>
              <a:t>Ralph 已具備持續迭代、驗證與 Context 管理；差異主要在「Loop」與「可配置多 Stage SOP」的抽象層級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1850"/>
            <a:ext cx="2011680" cy="438912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JhengHei"/>
              </a:rPr>
              <a:t>比較面向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2697480" y="1281850"/>
            <a:ext cx="4160520" cy="438912"/>
          </a:xfrm>
          <a:prstGeom prst="rect">
            <a:avLst/>
          </a:prstGeom>
          <a:solidFill>
            <a:srgbClr val="4B7BEC"/>
          </a:solidFill>
          <a:ln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 dirty="0">
                <a:solidFill>
                  <a:srgbClr val="FFFFFF"/>
                </a:solidFill>
                <a:latin typeface="Microsoft JhengHei"/>
              </a:rPr>
              <a:t>Ralph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281850"/>
            <a:ext cx="4663440" cy="438912"/>
          </a:xfrm>
          <a:prstGeom prst="rect">
            <a:avLst/>
          </a:prstGeom>
          <a:solidFill>
            <a:srgbClr val="F2A65A"/>
          </a:solidFill>
          <a:ln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Microsoft JhengHei"/>
              </a:rPr>
              <a:t>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720762"/>
            <a:ext cx="20116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80" b="1">
                <a:solidFill>
                  <a:srgbClr val="243047"/>
                </a:solidFill>
                <a:latin typeface="Microsoft JhengHei"/>
              </a:rPr>
              <a:t>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720762"/>
            <a:ext cx="416052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 dirty="0">
                <a:solidFill>
                  <a:srgbClr val="243047"/>
                </a:solidFill>
                <a:latin typeface="Microsoft JhengHei"/>
              </a:rPr>
              <a:t>Persistent iteration</a:t>
            </a:r>
          </a:p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持續執行直到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verify / stop condition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720762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Configurable SOP</a:t>
            </a:r>
          </a:p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YAML 定義 Task / Stage /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60258"/>
            <a:ext cx="201168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80" b="1">
                <a:solidFill>
                  <a:srgbClr val="243047"/>
                </a:solidFill>
                <a:latin typeface="Microsoft JhengHei"/>
              </a:rPr>
              <a:t>驗證 / 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260258"/>
            <a:ext cx="416052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verifyCompletion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</a:t>
            </a:r>
            <a:r>
              <a:rPr sz="910" b="0" dirty="0" err="1">
                <a:solidFill>
                  <a:srgbClr val="243047"/>
                </a:solidFill>
                <a:latin typeface="Microsoft JhengHei"/>
              </a:rPr>
              <a:t>可接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test / evaluator</a:t>
            </a:r>
          </a:p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不一定靠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AI </a:t>
            </a:r>
            <a:r>
              <a:rPr sz="910" b="0" dirty="0" err="1">
                <a:solidFill>
                  <a:srgbClr val="243047"/>
                </a:solidFill>
                <a:latin typeface="Microsoft JhengHei"/>
              </a:rPr>
              <a:t>自評</a:t>
            </a:r>
            <a:endParaRPr sz="910" b="0" dirty="0">
              <a:solidFill>
                <a:srgbClr val="243047"/>
              </a:solidFill>
              <a:latin typeface="Microsoft Jheng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2260258"/>
            <a:ext cx="466344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每個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Stage </a:t>
            </a:r>
            <a:r>
              <a:rPr sz="910" b="0" dirty="0" err="1">
                <a:solidFill>
                  <a:srgbClr val="243047"/>
                </a:solidFill>
                <a:latin typeface="Microsoft JhengHei"/>
              </a:rPr>
              <a:t>可配置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Grill / Review / Validator</a:t>
            </a:r>
          </a:p>
          <a:p>
            <a:pPr algn="ctr"/>
            <a:r>
              <a:rPr sz="910" b="0" dirty="0">
                <a:solidFill>
                  <a:srgbClr val="243047"/>
                </a:solidFill>
                <a:latin typeface="Microsoft JhengHei"/>
              </a:rPr>
              <a:t>Final Validation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99754"/>
            <a:ext cx="20116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80" b="1">
                <a:solidFill>
                  <a:srgbClr val="243047"/>
                </a:solidFill>
                <a:latin typeface="Microsoft JhengHei"/>
              </a:rPr>
              <a:t>長時間 /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799754"/>
            <a:ext cx="416052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lang="zh-TW" altLang="en-US" sz="910" b="0" dirty="0" smtClean="0">
                <a:solidFill>
                  <a:srgbClr val="243047"/>
                </a:solidFill>
                <a:latin typeface="Microsoft JhengHei"/>
              </a:rPr>
              <a:t>有些版本</a:t>
            </a:r>
            <a:r>
              <a:rPr sz="910" b="0" dirty="0" err="1" smtClean="0">
                <a:solidFill>
                  <a:srgbClr val="243047"/>
                </a:solidFill>
                <a:latin typeface="Microsoft JhengHei"/>
              </a:rPr>
              <a:t>版有</a:t>
            </a:r>
            <a:r>
              <a:rPr sz="910" b="0" dirty="0" smtClean="0">
                <a:solidFill>
                  <a:srgbClr val="243047"/>
                </a:solidFill>
                <a:latin typeface="Microsoft JhengHei"/>
              </a:rPr>
              <a:t> fresh 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iteration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799754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可依 Task / Stage 控制 Session、Context、</a:t>
            </a:r>
          </a:p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Resume / Durable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39250"/>
            <a:ext cx="201168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80" b="1">
                <a:solidFill>
                  <a:srgbClr val="243047"/>
                </a:solidFill>
                <a:latin typeface="Microsoft JhengHei"/>
              </a:rPr>
              <a:t>異常 / Recovery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3339250"/>
            <a:ext cx="416052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依實作而異：部分已有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</a:t>
            </a:r>
            <a:r>
              <a:rPr sz="910" b="0" dirty="0" err="1">
                <a:solidFill>
                  <a:srgbClr val="243047"/>
                </a:solidFill>
                <a:latin typeface="Microsoft JhengHei"/>
              </a:rPr>
              <a:t>backoff、stall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/ loop </a:t>
            </a:r>
            <a:r>
              <a:rPr sz="910" b="0" dirty="0" err="1">
                <a:solidFill>
                  <a:srgbClr val="243047"/>
                </a:solidFill>
                <a:latin typeface="Microsoft JhengHei"/>
              </a:rPr>
              <a:t>detection、retry</a:t>
            </a:r>
            <a:endParaRPr sz="910" b="0" dirty="0">
              <a:solidFill>
                <a:srgbClr val="243047"/>
              </a:solidFill>
              <a:latin typeface="Microsoft Jheng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0" y="3339250"/>
            <a:ext cx="466344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依 Stage 定義 API retry / wait、Recover、Resume、Failure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878746"/>
            <a:ext cx="201168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80" b="1">
                <a:solidFill>
                  <a:srgbClr val="243047"/>
                </a:solidFill>
                <a:latin typeface="Microsoft JhengHei"/>
              </a:rPr>
              <a:t>多任務 / SOP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878746"/>
            <a:ext cx="416052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部分實作支援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ordered tasks / dependencies / DAG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3878746"/>
            <a:ext cx="4663440" cy="539496"/>
          </a:xfrm>
          <a:prstGeom prst="rect">
            <a:avLst/>
          </a:prstGeom>
          <a:solidFill>
            <a:srgbClr val="FFFFFF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A → B → C；每個 Task 可有不同 Stage、Gate、Failure Policy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18242"/>
            <a:ext cx="201168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80" b="1">
                <a:solidFill>
                  <a:srgbClr val="243047"/>
                </a:solidFill>
                <a:latin typeface="Microsoft JhengHei"/>
              </a:rPr>
              <a:t>定位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4418242"/>
            <a:ext cx="416052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 dirty="0" err="1">
                <a:solidFill>
                  <a:srgbClr val="243047"/>
                </a:solidFill>
                <a:latin typeface="Microsoft JhengHei"/>
              </a:rPr>
              <a:t>單一目標的</a:t>
            </a:r>
            <a:r>
              <a:rPr sz="910" b="0" dirty="0">
                <a:solidFill>
                  <a:srgbClr val="243047"/>
                </a:solidFill>
                <a:latin typeface="Microsoft JhengHei"/>
              </a:rPr>
              <a:t> persistent fix / coding loop </a:t>
            </a:r>
            <a:r>
              <a:rPr sz="910" b="0" dirty="0" err="1">
                <a:solidFill>
                  <a:srgbClr val="243047"/>
                </a:solidFill>
                <a:latin typeface="Microsoft JhengHei"/>
              </a:rPr>
              <a:t>很適合</a:t>
            </a:r>
            <a:endParaRPr sz="910" b="0" dirty="0">
              <a:solidFill>
                <a:srgbClr val="243047"/>
              </a:solidFill>
              <a:latin typeface="Microsoft Jheng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0" y="4418242"/>
            <a:ext cx="4663440" cy="539496"/>
          </a:xfrm>
          <a:prstGeom prst="rect">
            <a:avLst/>
          </a:prstGeom>
          <a:solidFill>
            <a:srgbClr val="F4F7FA"/>
          </a:solidFill>
          <a:ln w="889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18288" rIns="82296" bIns="18288" rtlCol="0" anchor="ctr"/>
          <a:lstStyle/>
          <a:p>
            <a:pPr algn="ctr"/>
            <a:r>
              <a:rPr sz="910" b="0">
                <a:solidFill>
                  <a:srgbClr val="243047"/>
                </a:solidFill>
                <a:latin typeface="Microsoft JhengHei"/>
              </a:rPr>
              <a:t>多任務、不同規則、明確 SOP 的 Regression 流程更自然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74336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1" dirty="0" err="1">
                <a:solidFill>
                  <a:srgbClr val="172033"/>
                </a:solidFill>
                <a:latin typeface="Microsoft JhengHei"/>
              </a:rPr>
              <a:t>兩者可組合：Ralph</a:t>
            </a:r>
            <a:r>
              <a:rPr sz="1120" b="1" dirty="0">
                <a:solidFill>
                  <a:srgbClr val="172033"/>
                </a:solidFill>
                <a:latin typeface="Microsoft JhengHei"/>
              </a:rPr>
              <a:t> Loop </a:t>
            </a:r>
            <a:r>
              <a:rPr sz="1120" b="1" dirty="0" err="1">
                <a:solidFill>
                  <a:srgbClr val="172033"/>
                </a:solidFill>
                <a:latin typeface="Microsoft JhengHei"/>
              </a:rPr>
              <a:t>可以直接成為</a:t>
            </a:r>
            <a:r>
              <a:rPr sz="1120" b="1" dirty="0">
                <a:solidFill>
                  <a:srgbClr val="172033"/>
                </a:solidFill>
                <a:latin typeface="Microsoft JhengHei"/>
              </a:rPr>
              <a:t> Workflow </a:t>
            </a:r>
            <a:r>
              <a:rPr sz="1120" b="1" dirty="0" err="1">
                <a:solidFill>
                  <a:srgbClr val="172033"/>
                </a:solidFill>
                <a:latin typeface="Microsoft JhengHei"/>
              </a:rPr>
              <a:t>的一個</a:t>
            </a:r>
            <a:r>
              <a:rPr sz="1120" b="1" dirty="0">
                <a:solidFill>
                  <a:srgbClr val="172033"/>
                </a:solidFill>
                <a:latin typeface="Microsoft JhengHei"/>
              </a:rPr>
              <a:t> Stage / Execution Strategy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" y="5285232"/>
            <a:ext cx="2267712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Task A</a:t>
            </a:r>
          </a:p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Discovery / Docs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35808" y="5641848"/>
            <a:ext cx="411480" cy="0"/>
          </a:xfrm>
          <a:prstGeom prst="line">
            <a:avLst/>
          </a:prstGeom>
          <a:ln w="20320">
            <a:solidFill>
              <a:srgbClr val="65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38728" y="5285232"/>
            <a:ext cx="2267712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Task B</a:t>
            </a:r>
          </a:p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Ralph Loop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5641848"/>
            <a:ext cx="411480" cy="0"/>
          </a:xfrm>
          <a:prstGeom prst="line">
            <a:avLst/>
          </a:prstGeom>
          <a:ln w="20320">
            <a:solidFill>
              <a:srgbClr val="65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09360" y="5285232"/>
            <a:ext cx="2267712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D5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Task C</a:t>
            </a:r>
          </a:p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Grill / Review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77072" y="5641848"/>
            <a:ext cx="411480" cy="0"/>
          </a:xfrm>
          <a:prstGeom prst="line">
            <a:avLst/>
          </a:prstGeom>
          <a:ln w="20320">
            <a:solidFill>
              <a:srgbClr val="6573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79992" y="5285232"/>
            <a:ext cx="2267712" cy="7132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Task D</a:t>
            </a:r>
          </a:p>
          <a:p>
            <a:pPr algn="ctr"/>
            <a:r>
              <a:rPr sz="1019" b="1">
                <a:solidFill>
                  <a:srgbClr val="243047"/>
                </a:solidFill>
                <a:latin typeface="Microsoft JhengHei"/>
              </a:rPr>
              <a:t>Final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6245352"/>
            <a:ext cx="10835640" cy="420624"/>
          </a:xfrm>
          <a:prstGeom prst="roundRect">
            <a:avLst/>
          </a:prstGeom>
          <a:solidFill>
            <a:srgbClr val="EBF2FF"/>
          </a:solidFill>
          <a:ln>
            <a:solidFill>
              <a:srgbClr val="CD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40" b="1">
                <a:solidFill>
                  <a:srgbClr val="243047"/>
                </a:solidFill>
                <a:latin typeface="Microsoft JhengHei"/>
              </a:rPr>
              <a:t>結論：若只是「反覆做直到 PASS」，Ralph 已經很好；需要多任務編排、不同 Gate / Recovery Policy 時，Workflow 才真正增加價值。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6007608"/>
            <a:ext cx="10744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dirty="0" err="1">
                <a:solidFill>
                  <a:srgbClr val="657386"/>
                </a:solidFill>
                <a:latin typeface="Microsoft JhengHei"/>
              </a:rPr>
              <a:t>註：Ralph</a:t>
            </a:r>
            <a:r>
              <a:rPr sz="750" dirty="0">
                <a:solidFill>
                  <a:srgbClr val="657386"/>
                </a:solidFill>
                <a:latin typeface="Microsoft JhengHei"/>
              </a:rPr>
              <a:t> </a:t>
            </a:r>
            <a:r>
              <a:rPr sz="750" dirty="0" err="1">
                <a:solidFill>
                  <a:srgbClr val="657386"/>
                </a:solidFill>
                <a:latin typeface="Microsoft JhengHei"/>
              </a:rPr>
              <a:t>並非單一標準實作；功能會因</a:t>
            </a:r>
            <a:r>
              <a:rPr sz="750" dirty="0">
                <a:solidFill>
                  <a:srgbClr val="657386"/>
                </a:solidFill>
                <a:latin typeface="Microsoft JhengHei"/>
              </a:rPr>
              <a:t> </a:t>
            </a:r>
            <a:r>
              <a:rPr sz="750" dirty="0" err="1">
                <a:solidFill>
                  <a:srgbClr val="657386"/>
                </a:solidFill>
                <a:latin typeface="Microsoft JhengHei"/>
              </a:rPr>
              <a:t>Vercel</a:t>
            </a:r>
            <a:r>
              <a:rPr sz="750" dirty="0">
                <a:solidFill>
                  <a:srgbClr val="657386"/>
                </a:solidFill>
                <a:latin typeface="Microsoft JhengHei"/>
              </a:rPr>
              <a:t> </a:t>
            </a:r>
            <a:r>
              <a:rPr sz="750" dirty="0" err="1">
                <a:solidFill>
                  <a:srgbClr val="657386"/>
                </a:solidFill>
                <a:latin typeface="Microsoft JhengHei"/>
              </a:rPr>
              <a:t>ralph-loop-agent、各社群</a:t>
            </a:r>
            <a:r>
              <a:rPr sz="750" dirty="0">
                <a:solidFill>
                  <a:srgbClr val="657386"/>
                </a:solidFill>
                <a:latin typeface="Microsoft JhengHei"/>
              </a:rPr>
              <a:t> Ralph harness </a:t>
            </a:r>
            <a:r>
              <a:rPr sz="750" dirty="0" err="1">
                <a:solidFill>
                  <a:srgbClr val="657386"/>
                </a:solidFill>
                <a:latin typeface="Microsoft JhengHei"/>
              </a:rPr>
              <a:t>而不同</a:t>
            </a:r>
            <a:r>
              <a:rPr sz="750" dirty="0">
                <a:solidFill>
                  <a:srgbClr val="657386"/>
                </a:solidFill>
                <a:latin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51981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 0"/>
          <p:cNvSpPr/>
          <p:nvPr/>
        </p:nvSpPr>
        <p:spPr>
          <a:xfrm>
            <a:off x="567000" y="384120"/>
            <a:ext cx="109724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altLang="zh-TW" sz="2600" dirty="0" smtClean="0">
                <a:solidFill>
                  <a:srgbClr val="172033"/>
                </a:solidFill>
                <a:latin typeface="Microsoft JhengHei"/>
              </a:rPr>
              <a:t>Appendix — </a:t>
            </a:r>
            <a:r>
              <a:rPr lang="zh-TW" altLang="en-US" sz="2600" dirty="0" smtClean="0">
                <a:solidFill>
                  <a:srgbClr val="172033"/>
                </a:solidFill>
                <a:latin typeface="Microsoft JhengHei"/>
              </a:rPr>
              <a:t>什麼時候用 </a:t>
            </a:r>
            <a:r>
              <a:rPr lang="en-US" altLang="zh-TW" sz="2600" dirty="0" smtClean="0">
                <a:solidFill>
                  <a:srgbClr val="172033"/>
                </a:solidFill>
                <a:latin typeface="Microsoft JhengHei"/>
              </a:rPr>
              <a:t>Ralph Loop</a:t>
            </a:r>
            <a:r>
              <a:rPr lang="zh-TW" altLang="en-US" sz="2600" dirty="0" smtClean="0">
                <a:solidFill>
                  <a:srgbClr val="172033"/>
                </a:solidFill>
                <a:latin typeface="Microsoft JhengHei"/>
              </a:rPr>
              <a:t>？什麼時候用 </a:t>
            </a:r>
            <a:r>
              <a:rPr lang="en-US" altLang="zh-TW" sz="2600" dirty="0" smtClean="0">
                <a:solidFill>
                  <a:srgbClr val="172033"/>
                </a:solidFill>
                <a:latin typeface="Microsoft JhengHei"/>
              </a:rPr>
              <a:t>Workflow</a:t>
            </a:r>
            <a:r>
              <a:rPr lang="zh-TW" altLang="en-US" sz="2600" dirty="0" smtClean="0">
                <a:solidFill>
                  <a:srgbClr val="172033"/>
                </a:solidFill>
                <a:latin typeface="Microsoft JhengHei"/>
              </a:rPr>
              <a:t>？</a:t>
            </a:r>
            <a:endParaRPr lang="zh-TW" altLang="en-US" sz="2600" dirty="0">
              <a:solidFill>
                <a:srgbClr val="172033"/>
              </a:solidFill>
              <a:latin typeface="Microsoft JhengHei"/>
            </a:endParaRPr>
          </a:p>
        </p:txBody>
      </p:sp>
      <p:sp>
        <p:nvSpPr>
          <p:cNvPr id="461" name="Text 1"/>
          <p:cNvSpPr/>
          <p:nvPr/>
        </p:nvSpPr>
        <p:spPr>
          <a:xfrm>
            <a:off x="585360" y="89604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zh-TW" altLang="en-US" sz="1200" b="0" dirty="0" smtClean="0">
                <a:solidFill>
                  <a:srgbClr val="657386"/>
                </a:solidFill>
                <a:latin typeface="Microsoft JhengHei"/>
              </a:rPr>
              <a:t>不是依「任務大小」硬切；真正判斷點是流程是否只有單一迭代目標，還是存在多任務、多 </a:t>
            </a:r>
            <a:r>
              <a:rPr lang="en-US" altLang="zh-TW" sz="1200" b="0" dirty="0" smtClean="0">
                <a:solidFill>
                  <a:srgbClr val="657386"/>
                </a:solidFill>
                <a:latin typeface="Microsoft JhengHei"/>
              </a:rPr>
              <a:t>Stage</a:t>
            </a:r>
            <a:r>
              <a:rPr lang="zh-TW" altLang="en-US" sz="1200" b="0" dirty="0" smtClean="0">
                <a:solidFill>
                  <a:srgbClr val="657386"/>
                </a:solidFill>
                <a:latin typeface="Microsoft JhengHei"/>
              </a:rPr>
              <a:t>、不同驗收規則。</a:t>
            </a:r>
            <a:endParaRPr lang="zh-TW" altLang="en-US" sz="1200" b="0" dirty="0">
              <a:solidFill>
                <a:srgbClr val="657386"/>
              </a:solidFill>
              <a:latin typeface="Microsoft JhengHei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sldNum" idx="4294967295"/>
          </p:nvPr>
        </p:nvSpPr>
        <p:spPr>
          <a:xfrm>
            <a:off x="11658600" y="649224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A4FACB8-F3F9-4CC4-A1F7-EE345721540D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26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Rounded Rectangle 5"/>
          <p:cNvSpPr/>
          <p:nvPr/>
        </p:nvSpPr>
        <p:spPr>
          <a:xfrm>
            <a:off x="685800" y="1481328"/>
            <a:ext cx="3154680" cy="475488"/>
          </a:xfrm>
          <a:prstGeom prst="roundRect">
            <a:avLst/>
          </a:prstGeom>
          <a:solidFill>
            <a:srgbClr val="2F6FD6"/>
          </a:solidFill>
          <a:ln>
            <a:solidFill>
              <a:srgbClr val="2F6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6"/>
          <p:cNvSpPr txBox="1"/>
          <p:nvPr/>
        </p:nvSpPr>
        <p:spPr>
          <a:xfrm>
            <a:off x="777240" y="1481328"/>
            <a:ext cx="2971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Ralph Loop</a:t>
            </a:r>
          </a:p>
        </p:txBody>
      </p:sp>
      <p:sp>
        <p:nvSpPr>
          <p:cNvPr id="23" name="Rounded Rectangle 7"/>
          <p:cNvSpPr/>
          <p:nvPr/>
        </p:nvSpPr>
        <p:spPr>
          <a:xfrm>
            <a:off x="4069080" y="1481328"/>
            <a:ext cx="3154680" cy="475488"/>
          </a:xfrm>
          <a:prstGeom prst="roundRect">
            <a:avLst/>
          </a:prstGeom>
          <a:solidFill>
            <a:srgbClr val="1F8A70"/>
          </a:solidFill>
          <a:ln>
            <a:solidFill>
              <a:srgbClr val="1F8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8"/>
          <p:cNvSpPr txBox="1"/>
          <p:nvPr/>
        </p:nvSpPr>
        <p:spPr>
          <a:xfrm>
            <a:off x="4160520" y="1481328"/>
            <a:ext cx="2971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Workflow</a:t>
            </a:r>
          </a:p>
        </p:txBody>
      </p:sp>
      <p:sp>
        <p:nvSpPr>
          <p:cNvPr id="25" name="Rounded Rectangle 9"/>
          <p:cNvSpPr/>
          <p:nvPr/>
        </p:nvSpPr>
        <p:spPr>
          <a:xfrm>
            <a:off x="7452360" y="1481328"/>
            <a:ext cx="3154680" cy="475488"/>
          </a:xfrm>
          <a:prstGeom prst="roundRect">
            <a:avLst/>
          </a:prstGeom>
          <a:solidFill>
            <a:srgbClr val="D97817"/>
          </a:solidFill>
          <a:ln>
            <a:solidFill>
              <a:srgbClr val="D97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10"/>
          <p:cNvSpPr txBox="1"/>
          <p:nvPr/>
        </p:nvSpPr>
        <p:spPr>
          <a:xfrm>
            <a:off x="7543800" y="1481328"/>
            <a:ext cx="2971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Hybrid</a:t>
            </a:r>
          </a:p>
        </p:txBody>
      </p:sp>
      <p:sp>
        <p:nvSpPr>
          <p:cNvPr id="27" name="Rounded Rectangle 11"/>
          <p:cNvSpPr/>
          <p:nvPr/>
        </p:nvSpPr>
        <p:spPr>
          <a:xfrm>
            <a:off x="685800" y="2048256"/>
            <a:ext cx="3154680" cy="31546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12"/>
          <p:cNvSpPr/>
          <p:nvPr/>
        </p:nvSpPr>
        <p:spPr>
          <a:xfrm>
            <a:off x="4069080" y="2048256"/>
            <a:ext cx="3154680" cy="31546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3"/>
          <p:cNvSpPr/>
          <p:nvPr/>
        </p:nvSpPr>
        <p:spPr>
          <a:xfrm>
            <a:off x="7452360" y="2048256"/>
            <a:ext cx="3154680" cy="31546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4"/>
          <p:cNvSpPr txBox="1"/>
          <p:nvPr/>
        </p:nvSpPr>
        <p:spPr>
          <a:xfrm>
            <a:off x="822960" y="2176272"/>
            <a:ext cx="28803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適合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單一目標反覆修正直到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PASS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Coding / Migration / Refactor loop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一個主要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completion verifier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流程本身不需要很多不同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Gate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優點</a:t>
            </a:r>
            <a:r>
              <a:rPr dirty="0"/>
              <a:t/>
            </a:r>
            <a:br>
              <a:rPr dirty="0"/>
            </a:b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簡單、直接；成熟實作已有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verification、summarization、部分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retry / stall handling。</a:t>
            </a:r>
          </a:p>
        </p:txBody>
      </p:sp>
      <p:sp>
        <p:nvSpPr>
          <p:cNvPr id="31" name="TextBox 15"/>
          <p:cNvSpPr txBox="1"/>
          <p:nvPr/>
        </p:nvSpPr>
        <p:spPr>
          <a:xfrm>
            <a:off x="4206240" y="2176272"/>
            <a:ext cx="28803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適合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A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完成後才做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B、再做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C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每個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Task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有不同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SOP / Gate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強制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Grill ×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N、Review、Final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Validation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Stage-specific Retry / Recovery / Session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•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長時間流程需要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Resume / Durable State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優點</a:t>
            </a:r>
            <a:r>
              <a:rPr dirty="0"/>
              <a:t/>
            </a:r>
            <a:br>
              <a:rPr dirty="0"/>
            </a:b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把流程規則從模型移到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YAML /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程式控制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。</a:t>
            </a:r>
          </a:p>
        </p:txBody>
      </p:sp>
      <p:sp>
        <p:nvSpPr>
          <p:cNvPr id="32" name="TextBox 16"/>
          <p:cNvSpPr txBox="1"/>
          <p:nvPr/>
        </p:nvSpPr>
        <p:spPr>
          <a:xfrm>
            <a:off x="7589520" y="2176272"/>
            <a:ext cx="28803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推薦情境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Workflow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管整體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Regression SOP；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Ralph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處理其中需要「一直修到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</a:t>
            </a: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PASS」的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 Stage。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例如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Discovery → Docs →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Ralph Fix Loop →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Grill / Review →</a:t>
            </a:r>
            <a:r>
              <a:rPr dirty="0"/>
              <a:t/>
            </a:r>
            <a:br>
              <a:rPr dirty="0"/>
            </a:br>
            <a:r>
              <a:rPr sz="1000" b="0" dirty="0">
                <a:solidFill>
                  <a:srgbClr val="243047"/>
                </a:solidFill>
                <a:latin typeface="Microsoft JhengHei"/>
              </a:rPr>
              <a:t>Final Validation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兩者不是二選一</a:t>
            </a:r>
            <a:r>
              <a:rPr sz="1000" b="0" dirty="0">
                <a:solidFill>
                  <a:srgbClr val="243047"/>
                </a:solidFill>
                <a:latin typeface="Microsoft JhengHei"/>
              </a:rPr>
              <a:t>。</a:t>
            </a:r>
          </a:p>
        </p:txBody>
      </p:sp>
      <p:sp>
        <p:nvSpPr>
          <p:cNvPr id="33" name="Rounded Rectangle 17"/>
          <p:cNvSpPr/>
          <p:nvPr/>
        </p:nvSpPr>
        <p:spPr>
          <a:xfrm>
            <a:off x="685800" y="5440680"/>
            <a:ext cx="10835640" cy="658368"/>
          </a:xfrm>
          <a:prstGeom prst="roundRect">
            <a:avLst/>
          </a:prstGeom>
          <a:solidFill>
            <a:srgbClr val="F0F4FA"/>
          </a:solidFill>
          <a:ln>
            <a:solidFill>
              <a:srgbClr val="D6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8"/>
          <p:cNvSpPr txBox="1"/>
          <p:nvPr/>
        </p:nvSpPr>
        <p:spPr>
          <a:xfrm>
            <a:off x="868680" y="5513832"/>
            <a:ext cx="10469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30" b="1">
                <a:solidFill>
                  <a:srgbClr val="172033"/>
                </a:solidFill>
                <a:latin typeface="Microsoft JhengHei"/>
              </a:rPr>
              <a:t>判斷原則：只有「反覆做直到成功」→ 先考慮 Ralph；有「多任務 + 不同 SOP / Gate / Recovery」→ Workflow；需要兩者 → Ralph 當 Workflow Stage。</a:t>
            </a:r>
          </a:p>
        </p:txBody>
      </p:sp>
      <p:sp>
        <p:nvSpPr>
          <p:cNvPr id="35" name="TextBox 19"/>
          <p:cNvSpPr txBox="1"/>
          <p:nvPr/>
        </p:nvSpPr>
        <p:spPr>
          <a:xfrm>
            <a:off x="685800" y="6263640"/>
            <a:ext cx="10881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80" b="0">
                <a:solidFill>
                  <a:srgbClr val="657386"/>
                </a:solidFill>
                <a:latin typeface="Microsoft JhengHei"/>
              </a:rPr>
              <a:t>備用頁｜Ralph 能力依實作而異，這裡比較的是架構定位，不是宣稱某一方絕對做不到。</a:t>
            </a:r>
          </a:p>
        </p:txBody>
      </p:sp>
    </p:spTree>
    <p:extLst>
      <p:ext uri="{BB962C8B-B14F-4D97-AF65-F5344CB8AC3E}">
        <p14:creationId xmlns:p14="http://schemas.microsoft.com/office/powerpoint/2010/main" val="5938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</a:majorFont>
      <a:minorFont>
        <a:latin typeface="Noto Sans CJK T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Words>2313</Words>
  <Application>Microsoft Office PowerPoint</Application>
  <PresentationFormat>寬螢幕</PresentationFormat>
  <Paragraphs>453</Paragraphs>
  <Slides>26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DejaVu Sans</vt:lpstr>
      <vt:lpstr>Noto Sans CJK TC</vt:lpstr>
      <vt:lpstr>微軟正黑體</vt:lpstr>
      <vt:lpstr>Arial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QA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Test Automation Evolution</dc:title>
  <dc:subject>Regression Test Automation Evolution</dc:subject>
  <dc:creator>OpenAI</dc:creator>
  <dc:description/>
  <cp:lastModifiedBy>as798792@gmail.com</cp:lastModifiedBy>
  <cp:revision>37</cp:revision>
  <dcterms:created xsi:type="dcterms:W3CDTF">2026-08-30T06:36:30Z</dcterms:created>
  <dcterms:modified xsi:type="dcterms:W3CDTF">2026-08-30T15:35:44Z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